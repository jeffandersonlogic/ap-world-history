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14816" y="2231136"/>
            <a:ext cx="2395728" cy="2259305"/>
          </a:xfrm>
          <a:prstGeom prst="roundRect">
            <a:avLst>
              <a:gd name="adj" fmla="val 4047"/>
            </a:avLst>
          </a:prstGeom>
          <a:solidFill>
            <a:srgbClr val="C9A24B"/>
          </a:solidFill>
          <a:ln/>
          <a:effectLst>
            <a:outerShdw sx="100000" sy="100000" kx="0" ky="0" algn="bl" rotWithShape="0" blurRad="177800" dist="88900" dir="5400000">
              <a:srgbClr val="000000">
                <a:alpha val="5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2286000"/>
            <a:ext cx="2286000" cy="21495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PROFESSIONAL DEVELOPMENT &amp; CONSULTING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66928" y="1737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AndersonLogic </a:t>
            </a:r>
            <a:pPr indent="0" marL="0">
              <a:buNone/>
            </a:pPr>
            <a:r>
              <a:rPr lang="en-US" sz="5800" b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AI-integrated instruction that </a:t>
            </a:r>
            <a:pPr indent="0" marL="0">
              <a:buNone/>
            </a:pPr>
            <a:r>
              <a:rPr lang="en-US" sz="2500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augments</a:t>
            </a:r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, never replaces.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640080" y="41148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 and consulting for schools putting AI in the classroom — built and proven in a real AP course, not a slideshow.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5212080"/>
            <a:ext cx="164592" cy="16459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5102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Anderson, Founder  ·  creator of BeHistorical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 EVERY SCHOOL SHARES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is already in every classroom. A plan isn't.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011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Students use AI as an answer machine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are everywhere and the temptation is one tab away. Bans don't work; "just be careful" isn't a strategy.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4290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Rigor and consistency vary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practices live in individual classrooms and don't spread. Structure and quality drift teacher to teacher, day to day.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640080" cy="64008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Families are disconnected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554480" y="53035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rarely know what's being taught or how to help — and gaps surface only after the test.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Most AI professional development names these problems. Very little of it shows you a working answer.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IS DIFFERENT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didn't give a talk about AI. I built a working system with it.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2651760"/>
          </a:xfrm>
          <a:prstGeom prst="roundRect">
            <a:avLst>
              <a:gd name="adj" fmla="val 4483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TYPICAL AI PD SESSION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—"/>
            </a:pPr>
            <a:r>
              <a:rPr lang="en-US" sz="14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slideshow and a few chatbot tricks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—"/>
            </a:pPr>
            <a:r>
              <a:rPr lang="en-US" sz="14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"Here's the danger — be careful"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—"/>
            </a:pPr>
            <a:r>
              <a:rPr lang="en-US" sz="14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shown, but no method to adopt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—"/>
            </a:pPr>
            <a:r>
              <a:rPr lang="en-US" sz="14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that survives past Friday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26480" y="1965960"/>
            <a:ext cx="5394960" cy="2651760"/>
          </a:xfrm>
          <a:prstGeom prst="roundRect">
            <a:avLst>
              <a:gd name="adj" fmla="val 4483"/>
            </a:avLst>
          </a:prstGeom>
          <a:solidFill>
            <a:srgbClr val="24272A"/>
          </a:solidFill>
          <a:ln w="15875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2240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ANDERSONLOGIC AI BRINGS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2679192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100"/>
              </a:spcAft>
              <a:buSzPct val="100000"/>
              <a:buChar char="✦"/>
            </a:pPr>
            <a:r>
              <a:rPr lang="en-US" sz="1450" dirty="0">
                <a:solidFill>
                  <a:srgbClr val="E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platform, run with real students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✦"/>
            </a:pPr>
            <a:r>
              <a:rPr lang="en-US" sz="1450" dirty="0">
                <a:solidFill>
                  <a:srgbClr val="E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method teachers can copy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✦"/>
            </a:pPr>
            <a:r>
              <a:rPr lang="en-US" sz="1450" dirty="0">
                <a:solidFill>
                  <a:srgbClr val="E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make AI a thinking partner</a:t>
            </a:r>
            <a:endParaRPr lang="en-US" sz="1450" dirty="0"/>
          </a:p>
          <a:p>
            <a:pPr marL="203200" indent="-203200">
              <a:spcAft>
                <a:spcPts val="1100"/>
              </a:spcAft>
              <a:buSzPct val="100000"/>
              <a:buChar char="✦"/>
            </a:pPr>
            <a:r>
              <a:rPr lang="en-US" sz="1450" dirty="0">
                <a:solidFill>
                  <a:srgbClr val="E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like software — made to last and scale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proof isn't a promise. It's shipped.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PROOF — BEHISTORICAL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complete, AI-integrated AP World course — already running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894637" cy="384048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 complete lessons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99309" y="1691640"/>
            <a:ext cx="2216506" cy="384048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9309" y="1691640"/>
            <a:ext cx="221650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61 decision simulations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80406" y="1691640"/>
            <a:ext cx="1894637" cy="384048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80406" y="169164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FERPA-safe AI stack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139635" y="1691640"/>
            <a:ext cx="2296973" cy="384048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9635" y="1691640"/>
            <a:ext cx="22969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547 files auto-validated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01200" y="1691640"/>
            <a:ext cx="1894637" cy="384048"/>
          </a:xfrm>
          <a:prstGeom prst="roundRect">
            <a:avLst>
              <a:gd name="adj" fmla="val 50000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691640"/>
            <a:ext cx="18946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like software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" y="2478024"/>
            <a:ext cx="3456432" cy="2139696"/>
          </a:xfrm>
          <a:prstGeom prst="roundRect">
            <a:avLst>
              <a:gd name="adj" fmla="val 2137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14600"/>
            <a:ext cx="3383280" cy="237744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2601468"/>
            <a:ext cx="64008" cy="64008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17" name="Shape 15"/>
          <p:cNvSpPr/>
          <p:nvPr/>
        </p:nvSpPr>
        <p:spPr>
          <a:xfrm>
            <a:off x="859536" y="2601468"/>
            <a:ext cx="64008" cy="64008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18" name="Shape 16"/>
          <p:cNvSpPr/>
          <p:nvPr/>
        </p:nvSpPr>
        <p:spPr>
          <a:xfrm>
            <a:off x="969264" y="2601468"/>
            <a:ext cx="64008" cy="64008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19" name="Text 17"/>
          <p:cNvSpPr/>
          <p:nvPr/>
        </p:nvSpPr>
        <p:spPr>
          <a:xfrm>
            <a:off x="1115568" y="2514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lesson · 10 modules</a:t>
            </a:r>
            <a:endParaRPr lang="en-US" sz="8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752344"/>
            <a:ext cx="3383280" cy="18288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352544" y="2478024"/>
            <a:ext cx="3456432" cy="2139696"/>
          </a:xfrm>
          <a:prstGeom prst="roundRect">
            <a:avLst>
              <a:gd name="adj" fmla="val 2137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89120" y="2514600"/>
            <a:ext cx="3383280" cy="237744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23" name="Shape 20"/>
          <p:cNvSpPr/>
          <p:nvPr/>
        </p:nvSpPr>
        <p:spPr>
          <a:xfrm>
            <a:off x="4498848" y="2601468"/>
            <a:ext cx="64008" cy="64008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24" name="Shape 21"/>
          <p:cNvSpPr/>
          <p:nvPr/>
        </p:nvSpPr>
        <p:spPr>
          <a:xfrm>
            <a:off x="4608576" y="2601468"/>
            <a:ext cx="64008" cy="64008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25" name="Shape 22"/>
          <p:cNvSpPr/>
          <p:nvPr/>
        </p:nvSpPr>
        <p:spPr>
          <a:xfrm>
            <a:off x="4718304" y="2601468"/>
            <a:ext cx="64008" cy="64008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26" name="Text 23"/>
          <p:cNvSpPr/>
          <p:nvPr/>
        </p:nvSpPr>
        <p:spPr>
          <a:xfrm>
            <a:off x="4864608" y="2514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beintheroom simulation</a:t>
            </a:r>
            <a:endParaRPr lang="en-US" sz="80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0" y="2752344"/>
            <a:ext cx="3383280" cy="18288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8101584" y="2478024"/>
            <a:ext cx="3456432" cy="2139696"/>
          </a:xfrm>
          <a:prstGeom prst="roundRect">
            <a:avLst>
              <a:gd name="adj" fmla="val 2137"/>
            </a:avLst>
          </a:prstGeom>
          <a:solidFill>
            <a:srgbClr val="0E0F10"/>
          </a:solidFill>
          <a:ln w="9525">
            <a:solidFill>
              <a:srgbClr val="3A3F45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0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138160" y="2514600"/>
            <a:ext cx="3383280" cy="237744"/>
          </a:xfrm>
          <a:prstGeom prst="rect">
            <a:avLst/>
          </a:prstGeom>
          <a:solidFill>
            <a:srgbClr val="191C1F"/>
          </a:solidFill>
          <a:ln/>
        </p:spPr>
      </p:sp>
      <p:sp>
        <p:nvSpPr>
          <p:cNvPr id="30" name="Shape 26"/>
          <p:cNvSpPr/>
          <p:nvPr/>
        </p:nvSpPr>
        <p:spPr>
          <a:xfrm>
            <a:off x="8247888" y="2601468"/>
            <a:ext cx="64008" cy="64008"/>
          </a:xfrm>
          <a:prstGeom prst="ellipse">
            <a:avLst/>
          </a:prstGeom>
          <a:solidFill>
            <a:srgbClr val="C9564E"/>
          </a:solidFill>
          <a:ln/>
        </p:spPr>
      </p:sp>
      <p:sp>
        <p:nvSpPr>
          <p:cNvPr id="31" name="Shape 27"/>
          <p:cNvSpPr/>
          <p:nvPr/>
        </p:nvSpPr>
        <p:spPr>
          <a:xfrm>
            <a:off x="8357616" y="2601468"/>
            <a:ext cx="64008" cy="64008"/>
          </a:xfrm>
          <a:prstGeom prst="ellipse">
            <a:avLst/>
          </a:prstGeom>
          <a:solidFill>
            <a:srgbClr val="D8A441"/>
          </a:solidFill>
          <a:ln/>
        </p:spPr>
      </p:sp>
      <p:sp>
        <p:nvSpPr>
          <p:cNvPr id="32" name="Shape 28"/>
          <p:cNvSpPr/>
          <p:nvPr/>
        </p:nvSpPr>
        <p:spPr>
          <a:xfrm>
            <a:off x="8467344" y="2601468"/>
            <a:ext cx="64008" cy="64008"/>
          </a:xfrm>
          <a:prstGeom prst="ellipse">
            <a:avLst/>
          </a:prstGeom>
          <a:solidFill>
            <a:srgbClr val="5AA668"/>
          </a:solidFill>
          <a:ln/>
        </p:spPr>
      </p:sp>
      <p:sp>
        <p:nvSpPr>
          <p:cNvPr id="33" name="Text 29"/>
          <p:cNvSpPr/>
          <p:nvPr/>
        </p:nvSpPr>
        <p:spPr>
          <a:xfrm>
            <a:off x="8613648" y="2514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1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teacher hub</a:t>
            </a:r>
            <a:endParaRPr lang="en-US" sz="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38160" y="2752344"/>
            <a:ext cx="3383280" cy="182880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40080" y="4892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C9A2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didn't theorize this. I taught with it. BeHistorical is the evidence — the method is what I bring to your staff.</a:t>
            </a:r>
            <a:endParaRPr lang="en-US" sz="1600" dirty="0"/>
          </a:p>
        </p:txBody>
      </p:sp>
      <p:sp>
        <p:nvSpPr>
          <p:cNvPr id="36" name="Text 31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TRANSFERABLE FRAMEWORK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Augment Method  </a:t>
            </a:r>
            <a:pPr indent="0" marL="0">
              <a:buNone/>
            </a:pPr>
            <a:r>
              <a:rPr lang="en-US" sz="1600" b="1" i="1" dirty="0">
                <a:solidFill>
                  <a:srgbClr val="9A7A2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(working name)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principles, subject-agnostic. History was just the proving ground — the method drops into any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49240" cy="1627632"/>
          </a:xfrm>
          <a:prstGeom prst="roundRect">
            <a:avLst>
              <a:gd name="adj" fmla="val 6180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42032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consistent lesson spine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723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predictable structure students can navigate on day one — so quality doesn't depend on which teacher, or which day.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1627632"/>
          </a:xfrm>
          <a:prstGeom prst="roundRect">
            <a:avLst>
              <a:gd name="adj" fmla="val 6180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542032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5420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86600" y="25603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AI that coaches, never completes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072384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that make AI ask questions and demand reasoning — a thinking partner, not an answer machine.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133088"/>
            <a:ext cx="5349240" cy="1627632"/>
          </a:xfrm>
          <a:prstGeom prst="roundRect">
            <a:avLst>
              <a:gd name="adj" fmla="val 6180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389120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4074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data layer, three audiences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9194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work, captured once, serves the teacher, the student, and the family — automatically.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133088"/>
            <a:ext cx="5349240" cy="1627632"/>
          </a:xfrm>
          <a:prstGeom prst="roundRect">
            <a:avLst>
              <a:gd name="adj" fmla="val 6180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389120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86600" y="440740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to be maintained &amp; scaled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4919472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like software, not a binder — so it survives, spreads, and doesn't rest on one hero teacher.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OUTCOME FOR YOUR STAFF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your teachers will be able to 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Design a consistent lesson structure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spine students can follow from day one — in their own subject.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175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990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Put AI guardrails in place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3832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AI so students use it to think and revise — not to cheat — with prompts they can reuse.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06908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0690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4041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 student work into fast reteach decisions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44348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class in minutes and act before the test, not after.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120640"/>
            <a:ext cx="512064" cy="5120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120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C1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50932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Keep families in the loop — automatically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5486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plain-language, auto-generated update home without adding to the workload.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NOT JUST HISTORY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same method, any subject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3328416"/>
          </a:xfrm>
          <a:prstGeom prst="roundRect">
            <a:avLst>
              <a:gd name="adj" fmla="val 2747"/>
            </a:avLst>
          </a:prstGeom>
          <a:solidFill>
            <a:srgbClr val="FBF7EF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10881360" cy="475488"/>
          </a:xfrm>
          <a:prstGeom prst="rect">
            <a:avLst/>
          </a:prstGeom>
          <a:solidFill>
            <a:srgbClr val="FCF8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92024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AP WORLD HISTORY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0" y="19202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AP BIOLOGY *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1920240"/>
            <a:ext cx="0" cy="475488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1920240"/>
            <a:ext cx="0" cy="475488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95728"/>
            <a:ext cx="10881360" cy="0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957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Consistent spine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931920" y="239572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10-module lesson 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0" y="2395728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Phenomenon → model → investigation → argument, every unit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49040" y="2395728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2395728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108960"/>
            <a:ext cx="10881360" cy="0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1089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Coach, never complete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31920" y="310896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AI on a historical decision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108960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probes a claim-evidence-reasoning explanation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49040" y="3108960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35240" y="3108960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822192"/>
            <a:ext cx="10881360" cy="0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8221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data 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931920" y="3822192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→ Teacher Hub, guides, newsletter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0" y="3822192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claims → misconception flags &amp; reteach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49040" y="3822192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5240" y="3822192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535424"/>
            <a:ext cx="10881360" cy="0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535424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31920" y="453542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builds, quality gates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772400" y="4535424"/>
            <a:ext cx="3520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templates, same validation, new content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749040" y="4535424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4535424"/>
            <a:ext cx="0" cy="713232"/>
          </a:xfrm>
          <a:prstGeom prst="line">
            <a:avLst/>
          </a:prstGeom>
          <a:noFill/>
          <a:ln w="9525">
            <a:solidFill>
              <a:srgbClr val="E4DB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4132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Illustrative — the framework is content-agnostic; any course or grade band maps the same four principles.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WORK WITH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teach the class and I ship the software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19659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builder-teacher hybrid. </a:t>
            </a:r>
            <a:pPr indent="0" marL="0">
              <a:buNone/>
            </a:pPr>
            <a:r>
              <a:rPr lang="en-US" sz="15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teach AP World History and I built a 1,700-file platform to run it — a rare combination that means the method is classroom-real, not consultant theory.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926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tools you already use. </a:t>
            </a:r>
            <a:pPr indent="0" marL="0">
              <a:buNone/>
            </a:pPr>
            <a:r>
              <a:rPr lang="en-US" sz="15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runs on MagicSchool and Claude for education, Google Workspace, and Canvas — FERPA-safe and district-ready, not another platform to vet.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886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not promised. </a:t>
            </a:r>
            <a:pPr indent="0" marL="0">
              <a:buNone/>
            </a:pPr>
            <a:r>
              <a:rPr lang="en-US" sz="1500" dirty="0">
                <a:solidFill>
                  <a:srgbClr val="E9E2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points to something already built and running with students.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846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Add: years teaching · AP experience · credentials · any results or recognition 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WE'D WORK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ways to bring this to your staff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4048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KEYNOTE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27157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vision session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192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60–90 min · whole staff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96112" y="37216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that augments, never replaces" — the case and the guardrail framework that reframes the whole conversation.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11296" y="21488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67328" y="24048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67328" y="27157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Hands-on half day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67328" y="33192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3–4 hrs · by department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67328" y="37216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leave with one guardrailed, AI-integrated lesson built in their own subject.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82512" y="21488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38544" y="24048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COHORT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38544" y="27157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Coaching cohort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638544" y="33192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semester · small group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38544" y="37216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consistent, AI-integrated unit with ongoing coaching and a shared measurement plan.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53728" y="2148840"/>
            <a:ext cx="2615184" cy="3017520"/>
          </a:xfrm>
          <a:prstGeom prst="roundRect">
            <a:avLst>
              <a:gd name="adj" fmla="val 4196"/>
            </a:avLst>
          </a:prstGeom>
          <a:solidFill>
            <a:srgbClr val="FCF8F0"/>
          </a:solidFill>
          <a:ln w="12700">
            <a:solidFill>
              <a:srgbClr val="E4DB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2404872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509760" y="271576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72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Licensing &amp; build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509760" y="3319272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6B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· school / district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509760" y="37216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BeHistorical — or a course built on the method — to your classrooms, implementation included.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 engagement is scoped to your goals and building.  </a:t>
            </a:r>
            <a:pPr indent="0" marL="0">
              <a:buNone/>
            </a:pPr>
            <a:r>
              <a:rPr lang="en-US" sz="1100" i="1" dirty="0">
                <a:solidFill>
                  <a:srgbClr val="9A7A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add pricing / packages when ready ]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AndersonLogic AI</a:t>
            </a:r>
            <a:pPr algn="l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PD &amp; Consulting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E67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C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LET'S TALK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Put a real plan behind the AI in your building.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teachers are going to use AI anyway, give them a method that makes it rigorous. Let's scope a session that fits your staff.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8778240" cy="1234440"/>
          </a:xfrm>
          <a:prstGeom prst="roundRect">
            <a:avLst>
              <a:gd name="adj" fmla="val 8889"/>
            </a:avLst>
          </a:prstGeom>
          <a:solidFill>
            <a:srgbClr val="24272A"/>
          </a:solidFill>
          <a:ln w="12700">
            <a:solidFill>
              <a:srgbClr val="2E32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A DISCOVERY CALL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AndersonLogic AI      </a:t>
            </a:r>
            <a:pPr indent="0" marL="0">
              <a:buNone/>
            </a:pPr>
            <a:r>
              <a:rPr lang="en-US" sz="1300" dirty="0">
                <a:solidFill>
                  <a:srgbClr val="EFE8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Jeff Anderson, Founder      </a:t>
            </a:r>
            <a:pPr indent="0" marL="0">
              <a:buNone/>
            </a:pPr>
            <a:r>
              <a:rPr lang="en-US" sz="1300" i="1" dirty="0">
                <a:solidFill>
                  <a:srgbClr val="E4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business email ]      [ andersonlogic.ai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0704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A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2026-07-21T11:08:31Z</dcterms:created>
  <dcterms:modified xsi:type="dcterms:W3CDTF">2026-07-21T11:08:31Z</dcterms:modified>
</cp:coreProperties>
</file>