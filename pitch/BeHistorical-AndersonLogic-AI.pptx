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94776" y="1911096"/>
            <a:ext cx="2990088" cy="2818196"/>
          </a:xfrm>
          <a:prstGeom prst="roundRect">
            <a:avLst>
              <a:gd name="adj" fmla="val 3245"/>
            </a:avLst>
          </a:prstGeom>
          <a:solidFill>
            <a:srgbClr val="C9A24B"/>
          </a:solidFill>
          <a:ln/>
          <a:effectLst>
            <a:outerShdw sx="100000" sy="100000" kx="0" ky="0" algn="bl" rotWithShape="0" blurRad="203200" dist="101600" dir="5400000">
              <a:srgbClr val="000000">
                <a:alpha val="5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965960"/>
            <a:ext cx="2880360" cy="27084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ANDERSONLOGIC AI  ·  PRESENTS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66928" y="18288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</a:t>
            </a:r>
            <a:pPr indent="0" marL="0">
              <a:buNone/>
            </a:pPr>
            <a:r>
              <a:rPr lang="en-US" sz="70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Historical</a:t>
            </a:r>
            <a:endParaRPr lang="en-US" sz="70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AI-integrated platform for teaching AP World History.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40080" y="416052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learning path. Ten modules. Personalized study guides, a family newsletter, and a teacher command center — all from one system.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2578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51480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Jeff Anderson  ·  A product of AndersonLogic AI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BEHISTORICAL EXISTS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problems every AP classroom is facing right now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2011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Rigor is uneven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54480" y="2468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World demands document analysis, contextualization, and evidence-based argument — but delivery varies teacher to teacher, topic to topic, and day to day.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7472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429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arrived without a plan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54480" y="388620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already use AI. Most classrooms have no structure for it — so it becomes an answer machine instead of a thinking partner.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892040"/>
            <a:ext cx="640080" cy="6400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Home is out of the loop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54480" y="53035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rarely know what's being studied, and by the time a unit test reveals a gap, it's too late to reteach or step in.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 answers all three — with one repeatable system.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17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 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finished course — not a demo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College Board AP World framework, plus a pre-1200 Foundations bridge — built, wired, and automatically validated.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+ Foundations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AP World scope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38728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77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3675888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lessons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75888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topics + 6 Foundations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37376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61</a:t>
            </a:r>
            <a:endParaRPr lang="en-US" sz="5800" dirty="0"/>
          </a:p>
        </p:txBody>
      </p:sp>
      <p:sp>
        <p:nvSpPr>
          <p:cNvPr id="15" name="Text 13"/>
          <p:cNvSpPr/>
          <p:nvPr/>
        </p:nvSpPr>
        <p:spPr>
          <a:xfrm>
            <a:off x="6574536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BeInTheRoom sims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74536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built to the full quality bar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36024" y="265176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36024" y="2907792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547</a:t>
            </a:r>
            <a:endParaRPr lang="en-US" sz="5800" dirty="0"/>
          </a:p>
        </p:txBody>
      </p:sp>
      <p:sp>
        <p:nvSpPr>
          <p:cNvPr id="19" name="Text 17"/>
          <p:cNvSpPr/>
          <p:nvPr/>
        </p:nvSpPr>
        <p:spPr>
          <a:xfrm>
            <a:off x="9473184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auto-validated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73184" y="4407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deploy, zero errors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~770 module instances  ·  ~231 reading questions  ·  154 First &amp; 10 files  ·  1,700+ files in the repository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17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SIGNATURE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learning path. Ten modules. Every single lesson.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4434840" cy="4330090"/>
          </a:xfrm>
          <a:prstGeom prst="roundRect">
            <a:avLst>
              <a:gd name="adj" fmla="val 1267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343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unit 1 · topic 1.1 — interactive modules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4343400" cy="39826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screenshot · Topic 1.1, Song China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532120" y="16916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pedagogical spine runs through all 77 lessons — every lesson opens the same ten modules in the same order, so students always know where they are and quality never drifts.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5532120" y="3063240"/>
            <a:ext cx="1546250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32120" y="3063240"/>
            <a:ext cx="1546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Build Context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61250" y="306324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61250" y="306324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Learn &amp; Practice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218066" y="3063240"/>
            <a:ext cx="2001622" cy="384048"/>
          </a:xfrm>
          <a:prstGeom prst="roundRect">
            <a:avLst>
              <a:gd name="adj" fmla="val 50000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18066" y="3063240"/>
            <a:ext cx="20016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Check Understanding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532120" y="37490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Modules 04, 07, 08 &amp; 09 carry the features that make BeHistorical distinctive.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17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MAKES IT DIFFERENT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Named modules students remember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623560" cy="3726017"/>
          </a:xfrm>
          <a:prstGeom prst="roundRect">
            <a:avLst>
              <a:gd name="adj" fmla="val 1472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53212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first-and-10 · topic 1.1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532120" cy="337854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344505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&amp; 10 Reading — "The World That Song Built"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9224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First &amp; 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92240" y="19385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designed, textbook-quality reading with vocab chips, AP-skill callouts, and three open-response questions.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92240" y="242316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2240" y="27157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surprising, human detail that makes history concrete and memorable.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92240" y="32004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Evidence Lab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connect real evidence to a larger political, cultural, or economic claim.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92240" y="3977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Primary Source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92240" y="42702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authentic excerpt with a HIPP analysis prompt.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92240" y="47548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 Skill Builder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92240" y="504748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practice on one AP reasoning skill per topic.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492240" y="55321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92240" y="58247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ten-second takeaway that synthesizes the whole reading.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17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FLAGSHIP MODULE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 — decision simulations, not costume roleplay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577840" cy="3698095"/>
          </a:xfrm>
          <a:prstGeom prst="roundRect">
            <a:avLst>
              <a:gd name="adj" fmla="val 1484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486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beintheroom · unit 1 · topic 1.1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486400" cy="3350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316583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scenario — "Advising the Song Court"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46520" y="1737360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995160" y="175564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historical decision point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46520" y="2304288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995160" y="232257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with goals, fears, constraints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46520" y="2871216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2871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995160" y="288950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recommendation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446520" y="3438144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995160" y="345643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evidence; AI coaching probes it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46520" y="4005072"/>
            <a:ext cx="402336" cy="40233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5" name="Text 22"/>
          <p:cNvSpPr/>
          <p:nvPr/>
        </p:nvSpPr>
        <p:spPr>
          <a:xfrm>
            <a:off x="644652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995160" y="402336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  </a:t>
            </a:r>
            <a:pPr algn="l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character, AP-style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446520" y="470916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46520" y="470916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 roles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456018" y="4709160"/>
            <a:ext cx="1629461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56018" y="4709160"/>
            <a:ext cx="16294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8–12 evidence chips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250070" y="4709160"/>
            <a:ext cx="1130198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50070" y="4709160"/>
            <a:ext cx="11301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trade-offs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446520" y="5166360"/>
            <a:ext cx="1415491" cy="365760"/>
          </a:xfrm>
          <a:prstGeom prst="roundRect">
            <a:avLst>
              <a:gd name="adj" fmla="val 50000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46520" y="5166360"/>
            <a:ext cx="14154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 live &amp; linked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17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AI, WITH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AI that coaches — never completes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reading and simulation builds a ready-to-paste coaching prompt and hands it to the class MagicSchool bot. The AI asks one question at a time — and is explicitly forbidden from writing the answer.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532120" cy="3383280"/>
          </a:xfrm>
          <a:prstGeom prst="roundRect">
            <a:avLst>
              <a:gd name="adj" fmla="val 3243"/>
            </a:avLst>
          </a:prstGeom>
          <a:solidFill>
            <a:srgbClr val="FBF7EF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6-STAGE SOCRATIC DIALOGUE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3172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understanding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3630168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check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4032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14400" y="4489704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89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Opposing perspective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14400" y="4919472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thinking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14400" y="534924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349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C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71600" y="5321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00800" y="25146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A1C1D"/>
          </a:solidFill>
          <a:ln w="12700">
            <a:solidFill>
              <a:srgbClr val="1A1C1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2743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WORK FLOWS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75120" y="3154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BeHistorical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67728" y="34655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draft and reason inside the platform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39044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in MagicSchool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67728" y="421538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 prompt drives one-question-at-a-time dialogue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75120" y="46542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to Google Forms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67728" y="49651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auto-fill a prefilled form — unit, topic, skills tagged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75120" y="540410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 Canvas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67728" y="5715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work lands where teachers already grade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PERSONALIZED STUDY GUIDES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093147" y="475488"/>
            <a:ext cx="1519733" cy="310896"/>
          </a:xfrm>
          <a:prstGeom prst="roundRect">
            <a:avLst>
              <a:gd name="adj" fmla="val 50000"/>
            </a:avLst>
          </a:prstGeom>
          <a:solidFill>
            <a:srgbClr val="2E2A20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93147" y="475488"/>
            <a:ext cx="1519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DEVELOPMENT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3504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study guide built from each student's own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3154680" cy="4011107"/>
          </a:xfrm>
          <a:prstGeom prst="roundRect">
            <a:avLst>
              <a:gd name="adj" fmla="val 1739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306324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7850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77850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77850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11" name="Text 9"/>
          <p:cNvSpPr/>
          <p:nvPr/>
        </p:nvSpPr>
        <p:spPr>
          <a:xfrm>
            <a:off x="1207008" y="16916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study-guide · auto-generated · PDF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47672"/>
            <a:ext cx="3063240" cy="366363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5721035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concept · generated per student, per topic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16052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guides are the same. Each one reads a student's own responses and confidence ratings, then targets exactly what they need next — using the same analysis engine that powers the Teacher Hub.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160520" y="2880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three weakest spots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160520" y="31638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 from detected skill gaps, low-confidence answers, and flagged misconceptions.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160520" y="3794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Targeted practice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160520" y="40782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tuned to the exact AP skill the student is missing — not generic review.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160520" y="47091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clear next step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160520" y="49926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doable action — then a round with the AI Coach. Augment, never replace.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160520" y="5669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Same data → personalized for every student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DISPATCH — FAMILY NEWSLETTER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093147" y="475488"/>
            <a:ext cx="1519733" cy="310896"/>
          </a:xfrm>
          <a:prstGeom prst="roundRect">
            <a:avLst>
              <a:gd name="adj" fmla="val 50000"/>
            </a:avLst>
          </a:prstGeom>
          <a:solidFill>
            <a:srgbClr val="2E2A20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93147" y="475488"/>
            <a:ext cx="1519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DEVELOPMENT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3504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family, in the loop — automatically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2103120" cy="4241132"/>
          </a:xfrm>
          <a:prstGeom prst="roundRect">
            <a:avLst>
              <a:gd name="adj" fmla="val 2609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201168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7850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77850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77850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11" name="Text 9"/>
          <p:cNvSpPr/>
          <p:nvPr/>
        </p:nvSpPr>
        <p:spPr>
          <a:xfrm>
            <a:off x="1207008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dispatch · issue 01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47672"/>
            <a:ext cx="2011680" cy="38936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59510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 01 mockup · template &amp; content library built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00400" y="17373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biweekly email that forecasts the next five class days and pairs each topic with one "Tip of the Day" — a study-science move or an AP exam skill. For students and their families, in plain language.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200400" y="28803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Auto-generated from the course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200400" y="316382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tips, and Family Corner prompts merge from a Google Sheet into a branded HTML email.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200400" y="37947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rotating coaching library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200400" y="407822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learning-science Study Moves + 8 AP Skill Spotlights cycle so tips never go stale.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200400" y="470916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Delivered where families already are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200400" y="4992624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biweekly through the school's ParentSquare platform — no new app, no logins.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200400" y="56692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4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Turns the classroom into a home conversation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THE TEACHER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093147" y="475488"/>
            <a:ext cx="1519733" cy="310896"/>
          </a:xfrm>
          <a:prstGeom prst="roundRect">
            <a:avLst>
              <a:gd name="adj" fmla="val 50000"/>
            </a:avLst>
          </a:prstGeom>
          <a:solidFill>
            <a:srgbClr val="21301F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93147" y="475488"/>
            <a:ext cx="15197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7C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PROTOTYPE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3504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Teacher Hub — a live read on the class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5577840" cy="3590642"/>
          </a:xfrm>
          <a:prstGeom prst="roundRect">
            <a:avLst>
              <a:gd name="adj" fmla="val 1528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548640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7850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177850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10" name="Shape 8"/>
          <p:cNvSpPr/>
          <p:nvPr/>
        </p:nvSpPr>
        <p:spPr>
          <a:xfrm>
            <a:off x="1024128" y="177850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11" name="Text 9"/>
          <p:cNvSpPr/>
          <p:nvPr/>
        </p:nvSpPr>
        <p:spPr>
          <a:xfrm>
            <a:off x="1207008" y="1691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teacher hub · topic 1.1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47672"/>
            <a:ext cx="5486400" cy="324317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530057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 prototype · Topic 1.1 · rule-based Apps Script backend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492240" y="1737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Class Pulse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92240" y="20208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count, average confidence, and how many students need support — at a glance.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92240" y="26517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Students needing follow-up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29352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cards with the issue, next step, and a High / Medium / Low risk badge.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92240" y="3566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Reteach recommendations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92240" y="3849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misconceptions and skill gaps turned into prioritized, actionable focus.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Lesson delivery tools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492240" y="47640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Pacing guide, answer keys, KC-coded objectives, and copy-ready AI analysis prompts.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17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 UNDERNEATH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From raw answers to teaching decisions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analysis engine reads every student response and turns it into insight — and it's what powers the Teacher Hub, the study guides, and The Dispatch alike.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319272" cy="2834640"/>
          </a:xfrm>
          <a:prstGeom prst="roundRect">
            <a:avLst>
              <a:gd name="adj" fmla="val 3871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889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CAPTURE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081528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response, structured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2688" y="3749040"/>
            <a:ext cx="2752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Prefilled Google Form → Sheet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by unit, topic &amp; AP skill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rating on every answer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9352" y="2514600"/>
            <a:ext cx="457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16552" y="2514600"/>
            <a:ext cx="3319272" cy="2834640"/>
          </a:xfrm>
          <a:prstGeom prst="roundRect">
            <a:avLst>
              <a:gd name="adj" fmla="val 3871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7889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ANALYZE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90872" y="3081528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Rule-based, transparent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709160" y="3749040"/>
            <a:ext cx="2752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blank, short &amp; low-confidence work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evidence use &amp; misconceptions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missing reasoning (skill gaps)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35824" y="2514600"/>
            <a:ext cx="457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193024" y="2514600"/>
            <a:ext cx="3319272" cy="2834640"/>
          </a:xfrm>
          <a:prstGeom prst="roundRect">
            <a:avLst>
              <a:gd name="adj" fmla="val 3871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67344" y="27889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ACT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67344" y="3081528"/>
            <a:ext cx="2770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engine, three outputs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485632" y="3749040"/>
            <a:ext cx="2752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Hub — class &amp; per-student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guides — personalized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Dispatch — family-facing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17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PRIVACY, BUILT 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AI students use is FERPA-safe — and already district-approved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12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STUDENT-FACING · DISTRICT-APPROVED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60120" y="25237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MagicSchool 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coaching runs inside MagicSchool — adopted by our district as a FERPA-safe AI tool. Not a personal chatbot, not a consumer account.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370832"/>
            <a:ext cx="2357323" cy="329184"/>
          </a:xfrm>
          <a:prstGeom prst="roundRect">
            <a:avLst>
              <a:gd name="adj" fmla="val 50000"/>
            </a:avLst>
          </a:prstGeom>
          <a:solidFill>
            <a:srgbClr val="21301F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370832"/>
            <a:ext cx="23573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District-vetted · FERPA-safe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212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TEACHER-FACING · FERPA-ALIGNED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29400" y="25237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Claude for Teachers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629400" y="31089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Teacher-side analysis uses Claude, Anthropic's education AI — built to support FERPA compliance, with student inputs not used to train models.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29400" y="4370832"/>
            <a:ext cx="3538728" cy="329184"/>
          </a:xfrm>
          <a:prstGeom prst="roundRect">
            <a:avLst>
              <a:gd name="adj" fmla="val 50000"/>
            </a:avLst>
          </a:prstGeom>
          <a:solidFill>
            <a:srgbClr val="21301F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4370832"/>
            <a:ext cx="3538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Education-grade · Not trained on student work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Coaches, never completes — and never trains on a student's thinking.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STUDENT DATA IS PROTECTED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Student data stays inside district-approved systems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042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RUNS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Tools the district already governs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draft in BeHistorical, are coached in district-approved MagicSchool, and submit in Canvas — no new data destinations to vet.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2103120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30428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TRAINING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560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Never used to train an AI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971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AI tools are education-grade and vetted; a student's work is never used to train or improve an AI model.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77056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07822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PATTERNS, NOT EXPOSURE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433425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Aggregate by default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74573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Hub summarizes class-level trends; identifiable student data is never published to the public site.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3877056"/>
            <a:ext cx="5349240" cy="1572768"/>
          </a:xfrm>
          <a:prstGeom prst="roundRect">
            <a:avLst>
              <a:gd name="adj" fmla="val 6395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407822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 BY ROADMAP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433425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Authenticated access next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37960" y="474573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secure teacher sign-in replaces the prototype access code before any live student data flows through the Hub.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55955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9A7A2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Privacy isn't bolted on — it's the boundary the whole system is built around.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17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SCALES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like software, not a slide folder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623560" cy="3805047"/>
          </a:xfrm>
          <a:prstGeom prst="roundRect">
            <a:avLst>
              <a:gd name="adj" fmla="val 1442"/>
            </a:avLst>
          </a:prstGeom>
          <a:solidFill>
            <a:srgbClr val="0E0F10"/>
          </a:solidFill>
          <a:ln w="9525">
            <a:solidFill>
              <a:srgbClr val="3A3F45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5532120" cy="256032"/>
          </a:xfrm>
          <a:prstGeom prst="rect">
            <a:avLst/>
          </a:prstGeom>
          <a:solidFill>
            <a:srgbClr val="191C1F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687068"/>
            <a:ext cx="82296" cy="82296"/>
          </a:xfrm>
          <a:prstGeom prst="ellipse">
            <a:avLst/>
          </a:prstGeom>
          <a:solidFill>
            <a:srgbClr val="C9564E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1687068"/>
            <a:ext cx="82296" cy="82296"/>
          </a:xfrm>
          <a:prstGeom prst="ellipse">
            <a:avLst/>
          </a:prstGeom>
          <a:solidFill>
            <a:srgbClr val="D8A441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1687068"/>
            <a:ext cx="82296" cy="82296"/>
          </a:xfrm>
          <a:prstGeom prst="ellipse">
            <a:avLst/>
          </a:prstGeom>
          <a:solidFill>
            <a:srgbClr val="5AA668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16002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B91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behistorical · repository command center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56232"/>
            <a:ext cx="5532120" cy="345757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5423535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Command Center — audited against what's actually on disk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92240" y="16916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Automated validation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92240" y="200253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547-file audit runs on every change — module order, form wiring, and simulation quality gates. Zero-error deploys.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788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Deterministic builders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92240" y="30998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units are generated from data by scripts — so a fix rolls out everywhere, consistently, at once.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38862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Codified quality gates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92240" y="419709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rules live in blueprints and are enforced by machine before anything ships.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0292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difference between a teacher's materials and a product a district can adopt.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17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ALL CONNECTS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One platform, one data layer, three audiences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063240" cy="2468880"/>
          </a:xfrm>
          <a:prstGeom prst="roundRect">
            <a:avLst>
              <a:gd name="adj" fmla="val 4444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6334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LEARN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96112" y="29443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lesson platform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96112" y="347472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10-module lessons, First &amp; 10 readings, BeInTheRoom simulations, and an AI coach that questions rather than answers.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03320" y="2377440"/>
            <a:ext cx="457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60520" y="2377440"/>
            <a:ext cx="2926080" cy="2468880"/>
          </a:xfrm>
          <a:prstGeom prst="roundRect">
            <a:avLst>
              <a:gd name="adj" fmla="val 4444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6552" y="26334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DATA LAYER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16552" y="29443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Every response, analyzed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416552" y="34747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Answers, confidence, evidence, misconceptions, and skill gaps — captured and read by a single engine.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86600" y="2377440"/>
            <a:ext cx="457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7543800" y="2377440"/>
            <a:ext cx="4069080" cy="713232"/>
          </a:xfrm>
          <a:prstGeom prst="roundRect">
            <a:avLst>
              <a:gd name="adj" fmla="val 1282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63256" y="250545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Teacher Hub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63256" y="278892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teachers act in real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43800" y="3255264"/>
            <a:ext cx="4069080" cy="713232"/>
          </a:xfrm>
          <a:prstGeom prst="roundRect">
            <a:avLst>
              <a:gd name="adj" fmla="val 1282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63256" y="338328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Study Guides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63256" y="366674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students get a targeted plan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43800" y="4133088"/>
            <a:ext cx="4069080" cy="713232"/>
          </a:xfrm>
          <a:prstGeom prst="roundRect">
            <a:avLst>
              <a:gd name="adj" fmla="val 12821"/>
            </a:avLst>
          </a:prstGeom>
          <a:solidFill>
            <a:srgbClr val="24272A"/>
          </a:solidFill>
          <a:ln w="12700">
            <a:solidFill>
              <a:srgbClr val="2E32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63256" y="4261104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Dispatch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63256" y="454456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families stay in the loop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A24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the lesson once — and everyone around the student is served automatically.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17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THE BUILD STANDS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2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What's live, and what's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DDECE0"/>
          </a:solidFill>
          <a:ln w="12700">
            <a:solidFill>
              <a:srgbClr val="5AA6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3D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NOW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complete lessons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all 9 units + Foundations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3483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BeInTheRoom simulations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995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 + MagicSchool workflow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4507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 &amp; validation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50200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Hub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Topic 1.1 prototype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34840" y="210312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3774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2E6C9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23774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9A7A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091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study guides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709160" y="3483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Dispatch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template + Issue 01 built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709160" y="3995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Hub across all units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709160" y="4507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pipeline</a:t>
            </a:r>
            <a:pPr indent="0" marL="0">
              <a:buNone/>
            </a:pPr>
            <a:r>
              <a:rPr lang="en-US" sz="1150" i="1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Form → Sheet → Hub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0" y="2103120"/>
            <a:ext cx="3520440" cy="3383280"/>
          </a:xfrm>
          <a:prstGeom prst="roundRect">
            <a:avLst>
              <a:gd name="adj" fmla="val 3243"/>
            </a:avLst>
          </a:prstGeom>
          <a:solidFill>
            <a:srgbClr val="FCF8F0"/>
          </a:solidFill>
          <a:ln w="12700">
            <a:solidFill>
              <a:srgbClr val="E4DB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23774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DCE9EA"/>
          </a:solidFill>
          <a:ln w="12700">
            <a:solidFill>
              <a:srgbClr val="3E8E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0" y="23774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F6B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50392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Auto-sent study guides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503920" y="3483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AP courses &amp; subjects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503920" y="39959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rollout &amp; PD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503920" y="4507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9A7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pPr indent="0" marL="0">
              <a:buNone/>
            </a:pPr>
            <a:r>
              <a:rPr lang="en-US" sz="1350" dirty="0">
                <a:solidFill>
                  <a:srgbClr val="2B27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&amp; licensing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000" dirty="0">
                <a:solidFill>
                  <a:srgbClr val="6E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E67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17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38160" y="1005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BeReady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138160" y="2194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BeSurreal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38160" y="33832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BeInTheRoom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38160" y="45720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2E323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BeHistorical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685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THIS GOES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1430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method — not just a course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71576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repeatable framework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311810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10-module path, the AI guardrails, the analytics engine, and the build system are subject-agnostic — ready to lift into any AP or core course.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81304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Professional development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60120" y="42153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itself is the curriculum: a concrete model for teaching with AI responsibly, backed by working proof.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029200"/>
            <a:ext cx="146304" cy="146304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91032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C8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platform to grow on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60120" y="531266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BeHistorical is the first product under AndersonLogic AI — a foundation for a family of AI-integrated learning tools.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AndersonLogic AI</a:t>
            </a:r>
            <a:pPr algn="l" indent="0" marL="0">
              <a:buNone/>
            </a:pPr>
            <a:r>
              <a:rPr lang="en-US" sz="1400" dirty="0">
                <a:solidFill>
                  <a:srgbClr val="F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BeHistorical   ·   Created by Jeff Anderson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607040" y="6355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0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17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2026-07-21T05:24:03Z</dcterms:created>
  <dcterms:modified xsi:type="dcterms:W3CDTF">2026-07-21T05:24:03Z</dcterms:modified>
</cp:coreProperties>
</file>