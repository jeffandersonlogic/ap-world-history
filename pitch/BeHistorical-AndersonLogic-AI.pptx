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C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94776" y="1911096"/>
            <a:ext cx="2990088" cy="2818196"/>
          </a:xfrm>
          <a:prstGeom prst="roundRect">
            <a:avLst>
              <a:gd name="adj" fmla="val 3245"/>
            </a:avLst>
          </a:prstGeom>
          <a:solidFill>
            <a:srgbClr val="C9A24B"/>
          </a:solidFill>
          <a:ln/>
          <a:effectLst>
            <a:outerShdw sx="100000" sy="100000" kx="0" ky="0" algn="bl" rotWithShape="0" blurRad="203200" dist="101600" dir="5400000">
              <a:srgbClr val="000000">
                <a:alpha val="5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965960"/>
            <a:ext cx="2880360" cy="27084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ANDERSONLOGIC AI  ·  PRESENTS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66928" y="182880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</a:t>
            </a:r>
            <a:pPr indent="0" marL="0">
              <a:buNone/>
            </a:pPr>
            <a:r>
              <a:rPr lang="en-US" sz="7000" b="1" dirty="0">
                <a:solidFill>
                  <a:srgbClr val="C9A24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Historical</a:t>
            </a:r>
            <a:endParaRPr lang="en-US" sz="7000" dirty="0"/>
          </a:p>
        </p:txBody>
      </p:sp>
      <p:sp>
        <p:nvSpPr>
          <p:cNvPr id="6" name="Text 3"/>
          <p:cNvSpPr/>
          <p:nvPr/>
        </p:nvSpPr>
        <p:spPr>
          <a:xfrm>
            <a:off x="640080" y="338328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4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complete, AI-integrated platform for teaching AP World History.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640080" y="4160520"/>
            <a:ext cx="7040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learning path. Ten modules. Personalized study guides, a family newsletter, and a teacher command center — all from one system.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5257800"/>
            <a:ext cx="164592" cy="164592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9" name="Text 6"/>
          <p:cNvSpPr/>
          <p:nvPr/>
        </p:nvSpPr>
        <p:spPr>
          <a:xfrm>
            <a:off x="914400" y="51480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by Jeff Anderson  ·  A product of AndersonLogic AI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A0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18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A7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BEHISTORICAL EXISTS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868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Three problems every AP classroom is facing right now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640080" cy="64008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554480" y="201168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Rigor is uneven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554480" y="24688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 World demands document analysis, contextualization, and evidence-based argument — but delivery varies teacher to teacher, topic to topic, and day to day.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474720"/>
            <a:ext cx="640080" cy="64008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474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554480" y="34290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AI arrived without a plan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554480" y="388620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already use AI. Most classrooms have no structure for it — so it becomes an answer machine instead of a thinking partner.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892040"/>
            <a:ext cx="640080" cy="64008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892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554480" y="48463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Home is out of the loop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554480" y="530352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Families rarely know what's being studied, and by the time a unit test reveals a gap, it's too late to reteach or step in.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" y="6080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9A7A2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BeHistorical answers all three — with one repeatable system.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E6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18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C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2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SCOPE AT A GLANCE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finished course — not a demo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College Board AP World framework, plus a pre-1200 Foundations bridge — built, wired, and automatically validated.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5176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907792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C9A24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9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777240" y="40233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+ Foundations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44074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AP World scope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538728" y="265176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38728" y="2907792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C9A24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77</a:t>
            </a:r>
            <a:endParaRPr lang="en-US" sz="5800" dirty="0"/>
          </a:p>
        </p:txBody>
      </p:sp>
      <p:sp>
        <p:nvSpPr>
          <p:cNvPr id="11" name="Text 9"/>
          <p:cNvSpPr/>
          <p:nvPr/>
        </p:nvSpPr>
        <p:spPr>
          <a:xfrm>
            <a:off x="3675888" y="40233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lessons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75888" y="44074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 topics + 6 Foundations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37376" y="265176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7376" y="2907792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C9A24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61</a:t>
            </a:r>
            <a:endParaRPr lang="en-US" sz="5800" dirty="0"/>
          </a:p>
        </p:txBody>
      </p:sp>
      <p:sp>
        <p:nvSpPr>
          <p:cNvPr id="15" name="Text 13"/>
          <p:cNvSpPr/>
          <p:nvPr/>
        </p:nvSpPr>
        <p:spPr>
          <a:xfrm>
            <a:off x="6574536" y="40233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BeInTheRoom sims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574536" y="44074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built to the full quality bar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336024" y="265176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36024" y="2907792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C9A24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547</a:t>
            </a:r>
            <a:endParaRPr lang="en-US" sz="5800" dirty="0"/>
          </a:p>
        </p:txBody>
      </p:sp>
      <p:sp>
        <p:nvSpPr>
          <p:cNvPr id="19" name="Text 17"/>
          <p:cNvSpPr/>
          <p:nvPr/>
        </p:nvSpPr>
        <p:spPr>
          <a:xfrm>
            <a:off x="9473184" y="40233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auto-validated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473184" y="44074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deploy, zero errors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5440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4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~770 module instances  ·  ~231 reading questions  ·  154 First &amp; 10 files  ·  1,700+ files in the repository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A0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18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A7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SIGNATURE SYSTEM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7724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One learning path. Ten modules. Every single lesson.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4434840" cy="4330090"/>
          </a:xfrm>
          <a:prstGeom prst="roundRect">
            <a:avLst>
              <a:gd name="adj" fmla="val 1267"/>
            </a:avLst>
          </a:prstGeom>
          <a:solidFill>
            <a:srgbClr val="0E0F10"/>
          </a:solidFill>
          <a:ln w="9525">
            <a:solidFill>
              <a:srgbClr val="3A3F45"/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00200"/>
            <a:ext cx="4343400" cy="256032"/>
          </a:xfrm>
          <a:prstGeom prst="rect">
            <a:avLst/>
          </a:prstGeom>
          <a:solidFill>
            <a:srgbClr val="191C1F"/>
          </a:solidFill>
          <a:ln/>
        </p:spPr>
      </p:sp>
      <p:sp>
        <p:nvSpPr>
          <p:cNvPr id="6" name="Shape 4"/>
          <p:cNvSpPr/>
          <p:nvPr/>
        </p:nvSpPr>
        <p:spPr>
          <a:xfrm>
            <a:off x="768096" y="1687068"/>
            <a:ext cx="82296" cy="82296"/>
          </a:xfrm>
          <a:prstGeom prst="ellipse">
            <a:avLst/>
          </a:prstGeom>
          <a:solidFill>
            <a:srgbClr val="C9564E"/>
          </a:solidFill>
          <a:ln/>
        </p:spPr>
      </p:sp>
      <p:sp>
        <p:nvSpPr>
          <p:cNvPr id="7" name="Shape 5"/>
          <p:cNvSpPr/>
          <p:nvPr/>
        </p:nvSpPr>
        <p:spPr>
          <a:xfrm>
            <a:off x="896112" y="1687068"/>
            <a:ext cx="82296" cy="82296"/>
          </a:xfrm>
          <a:prstGeom prst="ellipse">
            <a:avLst/>
          </a:prstGeom>
          <a:solidFill>
            <a:srgbClr val="D8A441"/>
          </a:solidFill>
          <a:ln/>
        </p:spPr>
      </p:sp>
      <p:sp>
        <p:nvSpPr>
          <p:cNvPr id="8" name="Shape 6"/>
          <p:cNvSpPr/>
          <p:nvPr/>
        </p:nvSpPr>
        <p:spPr>
          <a:xfrm>
            <a:off x="1024128" y="1687068"/>
            <a:ext cx="82296" cy="82296"/>
          </a:xfrm>
          <a:prstGeom prst="ellipse">
            <a:avLst/>
          </a:prstGeom>
          <a:solidFill>
            <a:srgbClr val="5AA668"/>
          </a:solidFill>
          <a:ln/>
        </p:spPr>
      </p:sp>
      <p:sp>
        <p:nvSpPr>
          <p:cNvPr id="9" name="Text 7"/>
          <p:cNvSpPr/>
          <p:nvPr/>
        </p:nvSpPr>
        <p:spPr>
          <a:xfrm>
            <a:off x="1207008" y="1600200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B91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behistorical · unit 1 · topic 1.1 — interactive modules</a:t>
            </a:r>
            <a:endParaRPr lang="en-US" sz="8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56232"/>
            <a:ext cx="4343400" cy="398261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" y="5989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screenshot · Topic 1.1, Song China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532120" y="1691640"/>
            <a:ext cx="5943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pedagogical spine runs through all 77 lessons — every lesson opens the same ten modules in the same order, so students always know where they are and quality never drifts.</a:t>
            </a:r>
            <a:endParaRPr lang="en-US" sz="1550" dirty="0"/>
          </a:p>
        </p:txBody>
      </p:sp>
      <p:sp>
        <p:nvSpPr>
          <p:cNvPr id="13" name="Shape 10"/>
          <p:cNvSpPr/>
          <p:nvPr/>
        </p:nvSpPr>
        <p:spPr>
          <a:xfrm>
            <a:off x="5532120" y="3063240"/>
            <a:ext cx="1546250" cy="384048"/>
          </a:xfrm>
          <a:prstGeom prst="roundRect">
            <a:avLst>
              <a:gd name="adj" fmla="val 50000"/>
            </a:avLst>
          </a:prstGeom>
          <a:solidFill>
            <a:srgbClr val="FBF7EF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532120" y="3063240"/>
            <a:ext cx="1546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B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 Build Context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7261250" y="3063240"/>
            <a:ext cx="1773936" cy="384048"/>
          </a:xfrm>
          <a:prstGeom prst="roundRect">
            <a:avLst>
              <a:gd name="adj" fmla="val 50000"/>
            </a:avLst>
          </a:prstGeom>
          <a:solidFill>
            <a:srgbClr val="FBF7EF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261250" y="3063240"/>
            <a:ext cx="1773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B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 Learn &amp; Practice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9218066" y="3063240"/>
            <a:ext cx="2001622" cy="384048"/>
          </a:xfrm>
          <a:prstGeom prst="roundRect">
            <a:avLst>
              <a:gd name="adj" fmla="val 50000"/>
            </a:avLst>
          </a:prstGeom>
          <a:solidFill>
            <a:srgbClr val="FBF7EF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218066" y="3063240"/>
            <a:ext cx="20016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B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 Check Understanding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532120" y="37490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9A7A2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Modules 04, 07, 08 &amp; 09 carry the features that make BeHistorical distinctive.</a:t>
            </a:r>
            <a:endParaRPr lang="en-US" sz="1550" dirty="0"/>
          </a:p>
        </p:txBody>
      </p:sp>
      <p:sp>
        <p:nvSpPr>
          <p:cNvPr id="20" name="Text 17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E6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18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A7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MAKES IT DIFFERENT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772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Named modules students remember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5623560" cy="3726017"/>
          </a:xfrm>
          <a:prstGeom prst="roundRect">
            <a:avLst>
              <a:gd name="adj" fmla="val 1472"/>
            </a:avLst>
          </a:prstGeom>
          <a:solidFill>
            <a:srgbClr val="0E0F10"/>
          </a:solidFill>
          <a:ln w="9525">
            <a:solidFill>
              <a:srgbClr val="3A3F45"/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00200"/>
            <a:ext cx="5532120" cy="256032"/>
          </a:xfrm>
          <a:prstGeom prst="rect">
            <a:avLst/>
          </a:prstGeom>
          <a:solidFill>
            <a:srgbClr val="191C1F"/>
          </a:solidFill>
          <a:ln/>
        </p:spPr>
      </p:sp>
      <p:sp>
        <p:nvSpPr>
          <p:cNvPr id="6" name="Shape 4"/>
          <p:cNvSpPr/>
          <p:nvPr/>
        </p:nvSpPr>
        <p:spPr>
          <a:xfrm>
            <a:off x="768096" y="1687068"/>
            <a:ext cx="82296" cy="82296"/>
          </a:xfrm>
          <a:prstGeom prst="ellipse">
            <a:avLst/>
          </a:prstGeom>
          <a:solidFill>
            <a:srgbClr val="C9564E"/>
          </a:solidFill>
          <a:ln/>
        </p:spPr>
      </p:sp>
      <p:sp>
        <p:nvSpPr>
          <p:cNvPr id="7" name="Shape 5"/>
          <p:cNvSpPr/>
          <p:nvPr/>
        </p:nvSpPr>
        <p:spPr>
          <a:xfrm>
            <a:off x="896112" y="1687068"/>
            <a:ext cx="82296" cy="82296"/>
          </a:xfrm>
          <a:prstGeom prst="ellipse">
            <a:avLst/>
          </a:prstGeom>
          <a:solidFill>
            <a:srgbClr val="D8A441"/>
          </a:solidFill>
          <a:ln/>
        </p:spPr>
      </p:sp>
      <p:sp>
        <p:nvSpPr>
          <p:cNvPr id="8" name="Shape 6"/>
          <p:cNvSpPr/>
          <p:nvPr/>
        </p:nvSpPr>
        <p:spPr>
          <a:xfrm>
            <a:off x="1024128" y="1687068"/>
            <a:ext cx="82296" cy="82296"/>
          </a:xfrm>
          <a:prstGeom prst="ellipse">
            <a:avLst/>
          </a:prstGeom>
          <a:solidFill>
            <a:srgbClr val="5AA668"/>
          </a:solidFill>
          <a:ln/>
        </p:spPr>
      </p:sp>
      <p:sp>
        <p:nvSpPr>
          <p:cNvPr id="9" name="Text 7"/>
          <p:cNvSpPr/>
          <p:nvPr/>
        </p:nvSpPr>
        <p:spPr>
          <a:xfrm>
            <a:off x="1207008" y="160020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B91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behistorical · first-and-10 · topic 1.1</a:t>
            </a:r>
            <a:endParaRPr lang="en-US" sz="8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56232"/>
            <a:ext cx="5532120" cy="3378545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" y="5344505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 &amp; 10 Reading — "The World That Song Built"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492240" y="164592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A2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First &amp; 10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492240" y="193852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designed, textbook-quality reading with vocab chips, AP-skill callouts, and three open-response questions.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6492240" y="242316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A2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BeSurreal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492240" y="271576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surprising, human detail that makes history concrete and memorable.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6492240" y="320040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A2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Evidence Lab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349300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connect real evidence to a larger political, cultural, or economic claim.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492240" y="397764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A2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Primary Source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492240" y="427024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authentic excerpt with a HIPP analysis prompt.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6492240" y="475488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A2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AP Skill Builder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492240" y="504748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practice on one AP reasoning skill per topic.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6492240" y="553212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A2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BeReady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6492240" y="582472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ten-second takeaway that synthesizes the whole reading.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E6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18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C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2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FLAGSHIP MODULE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7724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BeInTheRoom — decision simulations, not costume roleplay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5577840" cy="3698095"/>
          </a:xfrm>
          <a:prstGeom prst="roundRect">
            <a:avLst>
              <a:gd name="adj" fmla="val 1484"/>
            </a:avLst>
          </a:prstGeom>
          <a:solidFill>
            <a:srgbClr val="0E0F10"/>
          </a:solidFill>
          <a:ln w="9525">
            <a:solidFill>
              <a:srgbClr val="3A3F45"/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00200"/>
            <a:ext cx="5486400" cy="256032"/>
          </a:xfrm>
          <a:prstGeom prst="rect">
            <a:avLst/>
          </a:prstGeom>
          <a:solidFill>
            <a:srgbClr val="191C1F"/>
          </a:solidFill>
          <a:ln/>
        </p:spPr>
      </p:sp>
      <p:sp>
        <p:nvSpPr>
          <p:cNvPr id="6" name="Shape 4"/>
          <p:cNvSpPr/>
          <p:nvPr/>
        </p:nvSpPr>
        <p:spPr>
          <a:xfrm>
            <a:off x="768096" y="1687068"/>
            <a:ext cx="82296" cy="82296"/>
          </a:xfrm>
          <a:prstGeom prst="ellipse">
            <a:avLst/>
          </a:prstGeom>
          <a:solidFill>
            <a:srgbClr val="C9564E"/>
          </a:solidFill>
          <a:ln/>
        </p:spPr>
      </p:sp>
      <p:sp>
        <p:nvSpPr>
          <p:cNvPr id="7" name="Shape 5"/>
          <p:cNvSpPr/>
          <p:nvPr/>
        </p:nvSpPr>
        <p:spPr>
          <a:xfrm>
            <a:off x="896112" y="1687068"/>
            <a:ext cx="82296" cy="82296"/>
          </a:xfrm>
          <a:prstGeom prst="ellipse">
            <a:avLst/>
          </a:prstGeom>
          <a:solidFill>
            <a:srgbClr val="D8A441"/>
          </a:solidFill>
          <a:ln/>
        </p:spPr>
      </p:sp>
      <p:sp>
        <p:nvSpPr>
          <p:cNvPr id="8" name="Shape 6"/>
          <p:cNvSpPr/>
          <p:nvPr/>
        </p:nvSpPr>
        <p:spPr>
          <a:xfrm>
            <a:off x="1024128" y="1687068"/>
            <a:ext cx="82296" cy="82296"/>
          </a:xfrm>
          <a:prstGeom prst="ellipse">
            <a:avLst/>
          </a:prstGeom>
          <a:solidFill>
            <a:srgbClr val="5AA668"/>
          </a:solidFill>
          <a:ln/>
        </p:spPr>
      </p:sp>
      <p:sp>
        <p:nvSpPr>
          <p:cNvPr id="9" name="Text 7"/>
          <p:cNvSpPr/>
          <p:nvPr/>
        </p:nvSpPr>
        <p:spPr>
          <a:xfrm>
            <a:off x="1207008" y="160020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B91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behistorical · beintheroom · unit 1 · topic 1.1</a:t>
            </a:r>
            <a:endParaRPr lang="en-US" sz="8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56232"/>
            <a:ext cx="5486400" cy="3350623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" y="5316583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0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scenario — "Advising the Song Court"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446520" y="1737360"/>
            <a:ext cx="402336" cy="402336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995160" y="175564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  </a:t>
            </a:r>
            <a:pPr algn="l" indent="0" marL="0">
              <a:buNone/>
            </a:pPr>
            <a:r>
              <a:rPr lang="en-US" sz="13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historical decision point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446520" y="2304288"/>
            <a:ext cx="402336" cy="402336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6" name="Text 13"/>
          <p:cNvSpPr/>
          <p:nvPr/>
        </p:nvSpPr>
        <p:spPr>
          <a:xfrm>
            <a:off x="6446520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995160" y="232257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   </a:t>
            </a:r>
            <a:pPr algn="l" indent="0" marL="0">
              <a:buNone/>
            </a:pPr>
            <a:r>
              <a:rPr lang="en-US" sz="13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role with goals, fears, constraints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446520" y="2871216"/>
            <a:ext cx="402336" cy="402336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9" name="Text 16"/>
          <p:cNvSpPr/>
          <p:nvPr/>
        </p:nvSpPr>
        <p:spPr>
          <a:xfrm>
            <a:off x="6446520" y="28712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995160" y="2889504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  </a:t>
            </a:r>
            <a:pPr algn="l" indent="0" marL="0">
              <a:buNone/>
            </a:pPr>
            <a:r>
              <a:rPr lang="en-US" sz="13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defensible recommendation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6446520" y="3438144"/>
            <a:ext cx="402336" cy="402336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22" name="Text 19"/>
          <p:cNvSpPr/>
          <p:nvPr/>
        </p:nvSpPr>
        <p:spPr>
          <a:xfrm>
            <a:off x="6446520" y="3438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6995160" y="345643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   </a:t>
            </a:r>
            <a:pPr algn="l" indent="0" marL="0">
              <a:buNone/>
            </a:pPr>
            <a:r>
              <a:rPr lang="en-US" sz="13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evidence; AI coaching probes it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6446520" y="4005072"/>
            <a:ext cx="402336" cy="402336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25" name="Text 22"/>
          <p:cNvSpPr/>
          <p:nvPr/>
        </p:nvSpPr>
        <p:spPr>
          <a:xfrm>
            <a:off x="6446520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995160" y="402336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   </a:t>
            </a:r>
            <a:pPr algn="l" indent="0" marL="0">
              <a:buNone/>
            </a:pPr>
            <a:r>
              <a:rPr lang="en-US" sz="13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character, AP-style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446520" y="4709160"/>
            <a:ext cx="844906" cy="365760"/>
          </a:xfrm>
          <a:prstGeom prst="roundRect">
            <a:avLst>
              <a:gd name="adj" fmla="val 50000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446520" y="4709160"/>
            <a:ext cx="8449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4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4+ roles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7456018" y="4709160"/>
            <a:ext cx="1629461" cy="365760"/>
          </a:xfrm>
          <a:prstGeom prst="roundRect">
            <a:avLst>
              <a:gd name="adj" fmla="val 50000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456018" y="4709160"/>
            <a:ext cx="16294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4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8–12 evidence chips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9250070" y="4709160"/>
            <a:ext cx="1130198" cy="365760"/>
          </a:xfrm>
          <a:prstGeom prst="roundRect">
            <a:avLst>
              <a:gd name="adj" fmla="val 50000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250070" y="4709160"/>
            <a:ext cx="11301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4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trade-offs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6446520" y="5166360"/>
            <a:ext cx="1415491" cy="365760"/>
          </a:xfrm>
          <a:prstGeom prst="roundRect">
            <a:avLst>
              <a:gd name="adj" fmla="val 50000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446520" y="5166360"/>
            <a:ext cx="14154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4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61 live &amp; linked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A0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18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A7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AI, WITH GUARDRAILS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AI that coaches — never completes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reading and simulation builds a ready-to-paste coaching prompt and hands it to the class MagicSchool bot. The AI asks one question at a time — and is explicitly forbidden from writing the answer.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5532120" cy="3383280"/>
          </a:xfrm>
          <a:prstGeom prst="roundRect">
            <a:avLst>
              <a:gd name="adj" fmla="val 3243"/>
            </a:avLst>
          </a:prstGeom>
          <a:solidFill>
            <a:srgbClr val="FBF7EF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7432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9A7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6-STAGE SOCRATIC DIALOGUE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14400" y="3200400"/>
            <a:ext cx="310896" cy="310896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200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71600" y="31729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understanding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914400" y="3630168"/>
            <a:ext cx="310896" cy="310896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630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71600" y="36027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check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914400" y="4059936"/>
            <a:ext cx="310896" cy="310896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059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371600" y="403250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914400" y="4489704"/>
            <a:ext cx="310896" cy="310896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4897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71600" y="4462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Opposing perspective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914400" y="4919472"/>
            <a:ext cx="310896" cy="310896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919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71600" y="4892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thinking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914400" y="5349240"/>
            <a:ext cx="310896" cy="310896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5349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6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371600" y="53218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6400800" y="2514600"/>
            <a:ext cx="5120640" cy="3383280"/>
          </a:xfrm>
          <a:prstGeom prst="roundRect">
            <a:avLst>
              <a:gd name="adj" fmla="val 3243"/>
            </a:avLst>
          </a:prstGeom>
          <a:solidFill>
            <a:srgbClr val="1A1C1D"/>
          </a:solidFill>
          <a:ln w="12700">
            <a:solidFill>
              <a:srgbClr val="1A1C1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75120" y="2743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A2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WORK FLOWS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675120" y="31546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in BeHistorical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967728" y="3465576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draft and reason inside the platform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675120" y="390448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 in MagicSchool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967728" y="4215384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built prompt drives one-question-at-a-time dialogue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675120" y="4654296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to Google Forms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967728" y="49651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auto-fill a prefilled form — unit, topic, skills tagged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675120" y="5404104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in Canvas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967728" y="57150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assessed work lands where teachers already grade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E6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18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A7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PERSONALIZED STUDY GUIDES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093147" y="475488"/>
            <a:ext cx="1519733" cy="310896"/>
          </a:xfrm>
          <a:prstGeom prst="roundRect">
            <a:avLst>
              <a:gd name="adj" fmla="val 50000"/>
            </a:avLst>
          </a:prstGeom>
          <a:solidFill>
            <a:srgbClr val="2E2A20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93147" y="475488"/>
            <a:ext cx="151973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E4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DEVELOPMENT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3504" y="8961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study guide built from each student's own work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94360" y="1645920"/>
            <a:ext cx="3154680" cy="4011107"/>
          </a:xfrm>
          <a:prstGeom prst="roundRect">
            <a:avLst>
              <a:gd name="adj" fmla="val 1739"/>
            </a:avLst>
          </a:prstGeom>
          <a:solidFill>
            <a:srgbClr val="0E0F10"/>
          </a:solidFill>
          <a:ln w="9525">
            <a:solidFill>
              <a:srgbClr val="3A3F45"/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691640"/>
            <a:ext cx="3063240" cy="256032"/>
          </a:xfrm>
          <a:prstGeom prst="rect">
            <a:avLst/>
          </a:prstGeom>
          <a:solidFill>
            <a:srgbClr val="191C1F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778508"/>
            <a:ext cx="82296" cy="82296"/>
          </a:xfrm>
          <a:prstGeom prst="ellipse">
            <a:avLst/>
          </a:prstGeom>
          <a:solidFill>
            <a:srgbClr val="C9564E"/>
          </a:solidFill>
          <a:ln/>
        </p:spPr>
      </p:sp>
      <p:sp>
        <p:nvSpPr>
          <p:cNvPr id="9" name="Shape 7"/>
          <p:cNvSpPr/>
          <p:nvPr/>
        </p:nvSpPr>
        <p:spPr>
          <a:xfrm>
            <a:off x="896112" y="1778508"/>
            <a:ext cx="82296" cy="82296"/>
          </a:xfrm>
          <a:prstGeom prst="ellipse">
            <a:avLst/>
          </a:prstGeom>
          <a:solidFill>
            <a:srgbClr val="D8A441"/>
          </a:solidFill>
          <a:ln/>
        </p:spPr>
      </p:sp>
      <p:sp>
        <p:nvSpPr>
          <p:cNvPr id="10" name="Shape 8"/>
          <p:cNvSpPr/>
          <p:nvPr/>
        </p:nvSpPr>
        <p:spPr>
          <a:xfrm>
            <a:off x="1024128" y="1778508"/>
            <a:ext cx="82296" cy="82296"/>
          </a:xfrm>
          <a:prstGeom prst="ellipse">
            <a:avLst/>
          </a:prstGeom>
          <a:solidFill>
            <a:srgbClr val="5AA668"/>
          </a:solidFill>
          <a:ln/>
        </p:spPr>
      </p:sp>
      <p:sp>
        <p:nvSpPr>
          <p:cNvPr id="11" name="Text 9"/>
          <p:cNvSpPr/>
          <p:nvPr/>
        </p:nvSpPr>
        <p:spPr>
          <a:xfrm>
            <a:off x="1207008" y="16916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B91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behistorical · study-guide · auto-generated · PDF</a:t>
            </a:r>
            <a:endParaRPr lang="en-US" sz="85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47672"/>
            <a:ext cx="3063240" cy="3663635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40080" y="5721035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 concept · generated per student, per topic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4160520" y="173736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two guides are the same. Each one reads a student's own responses and confidence ratings, then targets exactly what they need next — using the same analysis engine that powers the Teacher Hub.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160520" y="28803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A2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Your three weakest spots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160520" y="316382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Pulled from detected skill gaps, low-confidence answers, and flagged misconceptions.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160520" y="3794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A2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Targeted practice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160520" y="407822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tuned to the exact AP skill the student is missing — not generic review.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4160520" y="47091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A2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One clear next step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4160520" y="499262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single, doable action — then a round with the AI Coach. Augment, never replace.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160520" y="56692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7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◆ Same data → personalized for every student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E6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18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C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2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DISPATCH — FAMILY NEWSLETTER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093147" y="475488"/>
            <a:ext cx="1519733" cy="310896"/>
          </a:xfrm>
          <a:prstGeom prst="roundRect">
            <a:avLst>
              <a:gd name="adj" fmla="val 50000"/>
            </a:avLst>
          </a:prstGeom>
          <a:solidFill>
            <a:srgbClr val="2E2A20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93147" y="475488"/>
            <a:ext cx="151973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E4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DEVELOPMENT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3504" y="8961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Every family, in the loop — automatically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94360" y="1645920"/>
            <a:ext cx="2103120" cy="4241132"/>
          </a:xfrm>
          <a:prstGeom prst="roundRect">
            <a:avLst>
              <a:gd name="adj" fmla="val 2609"/>
            </a:avLst>
          </a:prstGeom>
          <a:solidFill>
            <a:srgbClr val="0E0F10"/>
          </a:solidFill>
          <a:ln w="9525">
            <a:solidFill>
              <a:srgbClr val="3A3F45"/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691640"/>
            <a:ext cx="2011680" cy="256032"/>
          </a:xfrm>
          <a:prstGeom prst="rect">
            <a:avLst/>
          </a:prstGeom>
          <a:solidFill>
            <a:srgbClr val="191C1F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778508"/>
            <a:ext cx="82296" cy="82296"/>
          </a:xfrm>
          <a:prstGeom prst="ellipse">
            <a:avLst/>
          </a:prstGeom>
          <a:solidFill>
            <a:srgbClr val="C9564E"/>
          </a:solidFill>
          <a:ln/>
        </p:spPr>
      </p:sp>
      <p:sp>
        <p:nvSpPr>
          <p:cNvPr id="9" name="Shape 7"/>
          <p:cNvSpPr/>
          <p:nvPr/>
        </p:nvSpPr>
        <p:spPr>
          <a:xfrm>
            <a:off x="896112" y="1778508"/>
            <a:ext cx="82296" cy="82296"/>
          </a:xfrm>
          <a:prstGeom prst="ellipse">
            <a:avLst/>
          </a:prstGeom>
          <a:solidFill>
            <a:srgbClr val="D8A441"/>
          </a:solidFill>
          <a:ln/>
        </p:spPr>
      </p:sp>
      <p:sp>
        <p:nvSpPr>
          <p:cNvPr id="10" name="Shape 8"/>
          <p:cNvSpPr/>
          <p:nvPr/>
        </p:nvSpPr>
        <p:spPr>
          <a:xfrm>
            <a:off x="1024128" y="1778508"/>
            <a:ext cx="82296" cy="82296"/>
          </a:xfrm>
          <a:prstGeom prst="ellipse">
            <a:avLst/>
          </a:prstGeom>
          <a:solidFill>
            <a:srgbClr val="5AA668"/>
          </a:solidFill>
          <a:ln/>
        </p:spPr>
      </p:sp>
      <p:sp>
        <p:nvSpPr>
          <p:cNvPr id="11" name="Text 9"/>
          <p:cNvSpPr/>
          <p:nvPr/>
        </p:nvSpPr>
        <p:spPr>
          <a:xfrm>
            <a:off x="1207008" y="16916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B91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dispatch · issue 01</a:t>
            </a:r>
            <a:endParaRPr lang="en-US" sz="85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47672"/>
            <a:ext cx="2011680" cy="389366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40080" y="59510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Issue 01 mockup · template &amp; content library built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3200400" y="17373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4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biweekly email that forecasts the next five class days and pairs each topic with one "Tip of the Day" — a study-science move or an AP exam skill. For students and their families, in plain language.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200400" y="2880360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4C8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Auto-generated from the course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200400" y="3163824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9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Topics, tips, and Family Corner prompts merge from a Google Sheet into a branded HTML email.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3200400" y="3794760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4C8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rotating coaching library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3200400" y="4078224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9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learning-science Study Moves + 8 AP Skill Spotlights cycle so tips never go stale.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3200400" y="4709160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4C8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Delivered where families already are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3200400" y="4992624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9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 biweekly through the school's ParentSquare platform — no new app, no logins.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3200400" y="566928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4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◆ Turns the classroom into a home conversation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A0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18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C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2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THE TEACHER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093147" y="475488"/>
            <a:ext cx="1519733" cy="310896"/>
          </a:xfrm>
          <a:prstGeom prst="roundRect">
            <a:avLst>
              <a:gd name="adj" fmla="val 50000"/>
            </a:avLst>
          </a:prstGeom>
          <a:solidFill>
            <a:srgbClr val="21301F"/>
          </a:solidFill>
          <a:ln w="12700">
            <a:solidFill>
              <a:srgbClr val="5AA6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93147" y="475488"/>
            <a:ext cx="151973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7C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PROTOTYPE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3504" y="8961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Teacher Hub — a live read on the class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94360" y="1645920"/>
            <a:ext cx="5577840" cy="3590642"/>
          </a:xfrm>
          <a:prstGeom prst="roundRect">
            <a:avLst>
              <a:gd name="adj" fmla="val 1528"/>
            </a:avLst>
          </a:prstGeom>
          <a:solidFill>
            <a:srgbClr val="0E0F10"/>
          </a:solidFill>
          <a:ln w="9525">
            <a:solidFill>
              <a:srgbClr val="3A3F45"/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691640"/>
            <a:ext cx="5486400" cy="256032"/>
          </a:xfrm>
          <a:prstGeom prst="rect">
            <a:avLst/>
          </a:prstGeom>
          <a:solidFill>
            <a:srgbClr val="191C1F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778508"/>
            <a:ext cx="82296" cy="82296"/>
          </a:xfrm>
          <a:prstGeom prst="ellipse">
            <a:avLst/>
          </a:prstGeom>
          <a:solidFill>
            <a:srgbClr val="C9564E"/>
          </a:solidFill>
          <a:ln/>
        </p:spPr>
      </p:sp>
      <p:sp>
        <p:nvSpPr>
          <p:cNvPr id="9" name="Shape 7"/>
          <p:cNvSpPr/>
          <p:nvPr/>
        </p:nvSpPr>
        <p:spPr>
          <a:xfrm>
            <a:off x="896112" y="1778508"/>
            <a:ext cx="82296" cy="82296"/>
          </a:xfrm>
          <a:prstGeom prst="ellipse">
            <a:avLst/>
          </a:prstGeom>
          <a:solidFill>
            <a:srgbClr val="D8A441"/>
          </a:solidFill>
          <a:ln/>
        </p:spPr>
      </p:sp>
      <p:sp>
        <p:nvSpPr>
          <p:cNvPr id="10" name="Shape 8"/>
          <p:cNvSpPr/>
          <p:nvPr/>
        </p:nvSpPr>
        <p:spPr>
          <a:xfrm>
            <a:off x="1024128" y="1778508"/>
            <a:ext cx="82296" cy="82296"/>
          </a:xfrm>
          <a:prstGeom prst="ellipse">
            <a:avLst/>
          </a:prstGeom>
          <a:solidFill>
            <a:srgbClr val="5AA668"/>
          </a:solidFill>
          <a:ln/>
        </p:spPr>
      </p:sp>
      <p:sp>
        <p:nvSpPr>
          <p:cNvPr id="11" name="Text 9"/>
          <p:cNvSpPr/>
          <p:nvPr/>
        </p:nvSpPr>
        <p:spPr>
          <a:xfrm>
            <a:off x="1207008" y="16916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B91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behistorical · teacher hub · topic 1.1</a:t>
            </a:r>
            <a:endParaRPr lang="en-US" sz="85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47672"/>
            <a:ext cx="5486400" cy="324317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40080" y="530057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0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Working prototype · Topic 1.1 · rule-based Apps Script backend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6492240" y="17373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4C8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Class Pulse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492240" y="2020824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9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count, average confidence, and how many students need support — at a glance.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6492240" y="26517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4C8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Students needing follow-up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2935224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9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Per-student cards with the issue, next step, and a High / Medium / Low risk badge.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492240" y="35661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4C8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Reteach recommendations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492240" y="3849624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9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misconceptions and skill gaps turned into prioritized, actionable focus.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6492240" y="44805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4C8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Lesson delivery tools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492240" y="4764024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9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Pacing guide, answer keys, KC-coded objectives, and copy-ready AI analysis prompts.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A0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18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A7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ENGINE UNDERNEATH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822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From raw answers to teaching decisions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analysis engine reads every student response and turns it into insight — and it's what powers the Teacher Hub, the study guides, and The Dispatch alike.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3319272" cy="2834640"/>
          </a:xfrm>
          <a:prstGeom prst="roundRect">
            <a:avLst>
              <a:gd name="adj" fmla="val 3871"/>
            </a:avLst>
          </a:prstGeom>
          <a:solidFill>
            <a:srgbClr val="FCF8F0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78892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A7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· CAPTURE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3081528"/>
            <a:ext cx="2770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Every response, structured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32688" y="3749040"/>
            <a:ext cx="2752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Prefilled Google Form → Sheet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Tagged by unit, topic &amp; AP skill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rating on every answer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959352" y="2514600"/>
            <a:ext cx="4572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416552" y="2514600"/>
            <a:ext cx="3319272" cy="2834640"/>
          </a:xfrm>
          <a:prstGeom prst="roundRect">
            <a:avLst>
              <a:gd name="adj" fmla="val 3871"/>
            </a:avLst>
          </a:prstGeom>
          <a:solidFill>
            <a:srgbClr val="FCF8F0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90872" y="278892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A7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· ANALYZE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690872" y="3081528"/>
            <a:ext cx="2770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Rule-based, transparent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4709160" y="3749040"/>
            <a:ext cx="2752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blank, short &amp; low-confidence work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evidence use &amp; misconceptions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Spots missing reasoning (skill gaps)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735824" y="2514600"/>
            <a:ext cx="4572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8193024" y="2514600"/>
            <a:ext cx="3319272" cy="2834640"/>
          </a:xfrm>
          <a:prstGeom prst="roundRect">
            <a:avLst>
              <a:gd name="adj" fmla="val 3871"/>
            </a:avLst>
          </a:prstGeom>
          <a:solidFill>
            <a:srgbClr val="FCF8F0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67344" y="278892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A7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· ACT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467344" y="3081528"/>
            <a:ext cx="2770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One engine, three outputs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8485632" y="3749040"/>
            <a:ext cx="2752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Hub — class &amp; per-student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guides — personalized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Dispatch — family-facing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E6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18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C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2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 PRIVACY, BUILT 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822960"/>
            <a:ext cx="11338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AI students use is FERPA-safe — and already district-approved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94960" cy="3108960"/>
          </a:xfrm>
          <a:prstGeom prst="roundRect">
            <a:avLst>
              <a:gd name="adj" fmla="val 3529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21284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9A2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STUDENT-FACING · DISTRICT-APPROVED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60120" y="252374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MagicSchool AI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60120" y="31089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9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coaching runs inside MagicSchool — adopted by our district as a FERPA-safe AI tool. Not a personal chatbot, not a consumer account.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60120" y="4370832"/>
            <a:ext cx="2357323" cy="329184"/>
          </a:xfrm>
          <a:prstGeom prst="roundRect">
            <a:avLst>
              <a:gd name="adj" fmla="val 50000"/>
            </a:avLst>
          </a:prstGeom>
          <a:solidFill>
            <a:srgbClr val="21301F"/>
          </a:solidFill>
          <a:ln w="12700">
            <a:solidFill>
              <a:srgbClr val="5AA66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4370832"/>
            <a:ext cx="23573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C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District-vetted · FERPA-safe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309360" y="1920240"/>
            <a:ext cx="5394960" cy="3108960"/>
          </a:xfrm>
          <a:prstGeom prst="roundRect">
            <a:avLst>
              <a:gd name="adj" fmla="val 3529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29400" y="221284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9A2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TEACHER-FACING · FERPA-ALIGNED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629400" y="252374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Claude for Teachers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629400" y="31089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9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Teacher-side analysis uses Claude, Anthropic's education AI — built to support FERPA compliance, with student inputs not used to train models.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629400" y="4370832"/>
            <a:ext cx="3538728" cy="329184"/>
          </a:xfrm>
          <a:prstGeom prst="roundRect">
            <a:avLst>
              <a:gd name="adj" fmla="val 50000"/>
            </a:avLst>
          </a:prstGeom>
          <a:solidFill>
            <a:srgbClr val="21301F"/>
          </a:solidFill>
          <a:ln w="12700">
            <a:solidFill>
              <a:srgbClr val="5AA66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29400" y="4370832"/>
            <a:ext cx="3538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C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Education-grade · Not trained on student work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40080" y="5349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C9A24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Coaches, never completes — and never trains on a student's thinking.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A0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18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A7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STUDENT DATA IS PROTECTED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868680"/>
            <a:ext cx="11338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Student data stays inside district-approved systems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349240" cy="1572768"/>
          </a:xfrm>
          <a:prstGeom prst="roundRect">
            <a:avLst>
              <a:gd name="adj" fmla="val 6395"/>
            </a:avLst>
          </a:prstGeom>
          <a:solidFill>
            <a:srgbClr val="FCF8F0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30428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A7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IT RUNS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Tools the district already governs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97180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draft in BeHistorical, are coached in district-approved MagicSchool, and submit in Canvas — no new data destinations to vet.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2103120"/>
            <a:ext cx="5349240" cy="1572768"/>
          </a:xfrm>
          <a:prstGeom prst="roundRect">
            <a:avLst>
              <a:gd name="adj" fmla="val 6395"/>
            </a:avLst>
          </a:prstGeom>
          <a:solidFill>
            <a:srgbClr val="FCF8F0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230428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A7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TRAINING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37960" y="25603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Never used to train an AI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37960" y="297180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AI tools are education-grade and vetted; a student's work is never used to train or improve an AI model.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877056"/>
            <a:ext cx="5349240" cy="1572768"/>
          </a:xfrm>
          <a:prstGeom prst="roundRect">
            <a:avLst>
              <a:gd name="adj" fmla="val 6395"/>
            </a:avLst>
          </a:prstGeom>
          <a:solidFill>
            <a:srgbClr val="FCF8F0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078224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A7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PATTERNS, NOT EXPOSURE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14400" y="4334256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Aggregate by default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14400" y="4745736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Hub summarizes class-level trends; identifiable student data is never published to the public site.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63640" y="3877056"/>
            <a:ext cx="5349240" cy="1572768"/>
          </a:xfrm>
          <a:prstGeom prst="roundRect">
            <a:avLst>
              <a:gd name="adj" fmla="val 6395"/>
            </a:avLst>
          </a:prstGeom>
          <a:solidFill>
            <a:srgbClr val="FCF8F0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7960" y="4078224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A7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SECURE BY ROADMAP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37960" y="4334256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Authenticated access next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537960" y="4745736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secure teacher sign-in replaces the prototype access code before any live student data flows through the Hub.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0080" y="555955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9A7A2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Privacy isn't bolted on — it's the boundary the whole system is built around.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E6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18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C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2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IT SCALES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772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Built like software, not a slide folder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5623560" cy="3805047"/>
          </a:xfrm>
          <a:prstGeom prst="roundRect">
            <a:avLst>
              <a:gd name="adj" fmla="val 1442"/>
            </a:avLst>
          </a:prstGeom>
          <a:solidFill>
            <a:srgbClr val="0E0F10"/>
          </a:solidFill>
          <a:ln w="9525">
            <a:solidFill>
              <a:srgbClr val="3A3F45"/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00200"/>
            <a:ext cx="5532120" cy="256032"/>
          </a:xfrm>
          <a:prstGeom prst="rect">
            <a:avLst/>
          </a:prstGeom>
          <a:solidFill>
            <a:srgbClr val="191C1F"/>
          </a:solidFill>
          <a:ln/>
        </p:spPr>
      </p:sp>
      <p:sp>
        <p:nvSpPr>
          <p:cNvPr id="6" name="Shape 4"/>
          <p:cNvSpPr/>
          <p:nvPr/>
        </p:nvSpPr>
        <p:spPr>
          <a:xfrm>
            <a:off x="768096" y="1687068"/>
            <a:ext cx="82296" cy="82296"/>
          </a:xfrm>
          <a:prstGeom prst="ellipse">
            <a:avLst/>
          </a:prstGeom>
          <a:solidFill>
            <a:srgbClr val="C9564E"/>
          </a:solidFill>
          <a:ln/>
        </p:spPr>
      </p:sp>
      <p:sp>
        <p:nvSpPr>
          <p:cNvPr id="7" name="Shape 5"/>
          <p:cNvSpPr/>
          <p:nvPr/>
        </p:nvSpPr>
        <p:spPr>
          <a:xfrm>
            <a:off x="896112" y="1687068"/>
            <a:ext cx="82296" cy="82296"/>
          </a:xfrm>
          <a:prstGeom prst="ellipse">
            <a:avLst/>
          </a:prstGeom>
          <a:solidFill>
            <a:srgbClr val="D8A441"/>
          </a:solidFill>
          <a:ln/>
        </p:spPr>
      </p:sp>
      <p:sp>
        <p:nvSpPr>
          <p:cNvPr id="8" name="Shape 6"/>
          <p:cNvSpPr/>
          <p:nvPr/>
        </p:nvSpPr>
        <p:spPr>
          <a:xfrm>
            <a:off x="1024128" y="1687068"/>
            <a:ext cx="82296" cy="82296"/>
          </a:xfrm>
          <a:prstGeom prst="ellipse">
            <a:avLst/>
          </a:prstGeom>
          <a:solidFill>
            <a:srgbClr val="5AA668"/>
          </a:solidFill>
          <a:ln/>
        </p:spPr>
      </p:sp>
      <p:sp>
        <p:nvSpPr>
          <p:cNvPr id="9" name="Text 7"/>
          <p:cNvSpPr/>
          <p:nvPr/>
        </p:nvSpPr>
        <p:spPr>
          <a:xfrm>
            <a:off x="1207008" y="160020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B91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behistorical · repository command center</a:t>
            </a:r>
            <a:endParaRPr lang="en-US" sz="8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56232"/>
            <a:ext cx="5532120" cy="3457575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" y="5423535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0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Command Center — audited against what's actually on disk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492240" y="169164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C8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Automated validation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492240" y="2002536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4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547-file audit runs on every change — module order, form wiring, and simulation quality gates. Zero-error deploys.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92240" y="278892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C8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Deterministic builders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492240" y="3099816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4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units are generated from data by scripts — so a fix rolls out everywhere, consistently, at once.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92240" y="388620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C8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Codified quality gates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492240" y="4197096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4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rules live in blueprints and are enforced by machine before anything ships.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492240" y="50292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C9A24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difference between a teacher's materials and a product a district can adopt.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A0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18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C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2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IT ALL CONNECTS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822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One platform, one data layer, three audiences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3063240" cy="2468880"/>
          </a:xfrm>
          <a:prstGeom prst="roundRect">
            <a:avLst>
              <a:gd name="adj" fmla="val 4444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263347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9A2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STUDENTS LEARN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96112" y="294436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lesson platform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96112" y="3474720"/>
            <a:ext cx="2606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10-module lessons, First &amp; 10 readings, BeInTheRoom simulations, and an AI coach that questions rather than answers.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703320" y="2377440"/>
            <a:ext cx="457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160520" y="2377440"/>
            <a:ext cx="2926080" cy="2468880"/>
          </a:xfrm>
          <a:prstGeom prst="roundRect">
            <a:avLst>
              <a:gd name="adj" fmla="val 4444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16552" y="26334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9A2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 DATA LAYER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416552" y="294436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Every response, analyzed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416552" y="347472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Answers, confidence, evidence, misconceptions, and skill gaps — captured and read by a single engine.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086600" y="2377440"/>
            <a:ext cx="457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7543800" y="2377440"/>
            <a:ext cx="4069080" cy="713232"/>
          </a:xfrm>
          <a:prstGeom prst="roundRect">
            <a:avLst>
              <a:gd name="adj" fmla="val 12821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63256" y="2505456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4C8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Teacher Hub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63256" y="2788920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teachers act in real time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543800" y="3255264"/>
            <a:ext cx="4069080" cy="713232"/>
          </a:xfrm>
          <a:prstGeom prst="roundRect">
            <a:avLst>
              <a:gd name="adj" fmla="val 12821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63256" y="3383280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4C8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Study Guides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763256" y="366674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students get a targeted plan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543800" y="4133088"/>
            <a:ext cx="4069080" cy="713232"/>
          </a:xfrm>
          <a:prstGeom prst="roundRect">
            <a:avLst>
              <a:gd name="adj" fmla="val 12821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63256" y="4261104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4C8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Dispatch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763256" y="4544568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families stay in the loop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C9A24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Build the lesson once — and everyone around the student is served automatically.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A0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18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A7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THE BUILD STANDS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8686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What's live, and what's next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520440" cy="3383280"/>
          </a:xfrm>
          <a:prstGeom prst="roundRect">
            <a:avLst>
              <a:gd name="adj" fmla="val 3243"/>
            </a:avLst>
          </a:prstGeom>
          <a:solidFill>
            <a:srgbClr val="FCF8F0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37744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DDECE0"/>
          </a:solidFill>
          <a:ln w="12700">
            <a:solidFill>
              <a:srgbClr val="5AA66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37744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3D7A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NOW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91440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9A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1350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complete lessons</a:t>
            </a:r>
            <a:pPr indent="0" marL="0">
              <a:buNone/>
            </a:pPr>
            <a:r>
              <a:rPr lang="en-US" sz="1150" i="1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all 9 units + Foundations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14400" y="348386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9A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1350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 BeInTheRoom simulations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14400" y="39959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9A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1350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coach + MagicSchool workflow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14400" y="450799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9A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1350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Center &amp; validation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14400" y="502005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9A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1350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Hub</a:t>
            </a:r>
            <a:pPr indent="0" marL="0">
              <a:buNone/>
            </a:pPr>
            <a:r>
              <a:rPr lang="en-US" sz="1150" i="1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Topic 1.1 prototype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434840" y="2103120"/>
            <a:ext cx="3520440" cy="3383280"/>
          </a:xfrm>
          <a:prstGeom prst="roundRect">
            <a:avLst>
              <a:gd name="adj" fmla="val 3243"/>
            </a:avLst>
          </a:prstGeom>
          <a:solidFill>
            <a:srgbClr val="FCF8F0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09160" y="237744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F2E6C9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9160" y="237744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9A7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DEVELOPMENT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70916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9A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1350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study guides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709160" y="348386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9A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1350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Dispatch</a:t>
            </a:r>
            <a:pPr indent="0" marL="0">
              <a:buNone/>
            </a:pPr>
            <a:r>
              <a:rPr lang="en-US" sz="1150" i="1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template + Issue 01 built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709160" y="39959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9A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1350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Hub across all units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709160" y="450799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9A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1350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data pipeline</a:t>
            </a:r>
            <a:pPr indent="0" marL="0">
              <a:buNone/>
            </a:pPr>
            <a:r>
              <a:rPr lang="en-US" sz="1150" i="1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Form → Sheet → Hub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229600" y="2103120"/>
            <a:ext cx="3520440" cy="3383280"/>
          </a:xfrm>
          <a:prstGeom prst="roundRect">
            <a:avLst>
              <a:gd name="adj" fmla="val 3243"/>
            </a:avLst>
          </a:prstGeom>
          <a:solidFill>
            <a:srgbClr val="FCF8F0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237744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DCE9EA"/>
          </a:solidFill>
          <a:ln w="12700">
            <a:solidFill>
              <a:srgbClr val="3E8E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03920" y="237744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2F6B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EXPLORING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50392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9A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1350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Auto-sent study guides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503920" y="348386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9A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1350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AP courses &amp; subjects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503920" y="39959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9A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1350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rollout &amp; PD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8503920" y="450799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9A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1350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Consulting &amp; licensing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E6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18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A7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MEASURING IMPACT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8686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How we'll know it's working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one is the baseline. Here's what BeHistorical already lets us see — and the outcomes we'll measure against it.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5394960" cy="2880360"/>
          </a:xfrm>
          <a:prstGeom prst="roundRect">
            <a:avLst>
              <a:gd name="adj" fmla="val 3810"/>
            </a:avLst>
          </a:prstGeom>
          <a:solidFill>
            <a:srgbClr val="FCF8F0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6517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D7A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WHAT WE CAN ALREADY SEE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60120" y="3090672"/>
            <a:ext cx="4709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Participation &amp; completion, per lesson and module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trends across a unit (1–5 self-ratings)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AI-coaching engagement — coaching rounds per student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Response-quality signals — evidence use &amp; reasoning language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126480" y="2377440"/>
            <a:ext cx="5394960" cy="2880360"/>
          </a:xfrm>
          <a:prstGeom prst="roundRect">
            <a:avLst>
              <a:gd name="adj" fmla="val 3810"/>
            </a:avLst>
          </a:prstGeom>
          <a:solidFill>
            <a:srgbClr val="FCF8F0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26517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A7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◎ WHAT WE'LL PROVE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46520" y="3090672"/>
            <a:ext cx="4709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 exam 3+ rate vs. prior years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SAQ / DBQ rubric growth, pre → post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MCQ mastery by Key Concept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engagement — Dispatch open &amp; click rates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5486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Method: pre/post on CED-aligned items · section-to-section comparison · tracked in the Teacher Hub · baseline year 2026–27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E6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18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C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38160" y="10058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i="1" dirty="0">
                <a:solidFill>
                  <a:srgbClr val="2E32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BeReady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8138160" y="219456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i="1" dirty="0">
                <a:solidFill>
                  <a:srgbClr val="2E32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BeSurreal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138160" y="33832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i="1" dirty="0">
                <a:solidFill>
                  <a:srgbClr val="2E32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BeInTheRoom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138160" y="45720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i="1" dirty="0">
                <a:solidFill>
                  <a:srgbClr val="2E32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BeHistorical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685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9A2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THIS GOES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14300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method — not just a course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46304" cy="146304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2715768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C8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repeatable framework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960120" y="3118104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10-module path, the AI guardrails, the analytics engine, and the build system are subject-agnostic — ready to lift into any AP or core course.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3931920"/>
            <a:ext cx="146304" cy="146304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3813048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C8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Professional development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960120" y="4215384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itself is the curriculum: a concrete model for teaching with AI responsibly, backed by working proof.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5029200"/>
            <a:ext cx="146304" cy="146304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4910328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C8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platform to grow on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960120" y="5312664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BeHistorical is the first product under AndersonLogic AI — a foundation for a family of AI-integrated learning tools.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62179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400" dirty="0">
                <a:solidFill>
                  <a:srgbClr val="F4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   ·   Created by Jeff Anderson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A0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18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2026-07-21T11:01:30Z</dcterms:created>
  <dcterms:modified xsi:type="dcterms:W3CDTF">2026-07-21T11:01:30Z</dcterms:modified>
</cp:coreProperties>
</file>