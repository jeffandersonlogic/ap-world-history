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C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55280" y="914400"/>
            <a:ext cx="4023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i="1" dirty="0">
                <a:solidFill>
                  <a:srgbClr val="2E323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BeReady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7955280" y="2148840"/>
            <a:ext cx="4023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i="1" dirty="0">
                <a:solidFill>
                  <a:srgbClr val="2E323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BeSurreal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955280" y="3383280"/>
            <a:ext cx="4023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i="1" dirty="0">
                <a:solidFill>
                  <a:srgbClr val="2E323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BeInTheRoom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955280" y="4617720"/>
            <a:ext cx="4023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i="1" dirty="0">
                <a:solidFill>
                  <a:srgbClr val="2E323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BeHistorical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40080" y="13716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ANDERSONLOGIC AI  ·  PRESENTS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66928" y="1874520"/>
            <a:ext cx="8686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BeHistorical</a:t>
            </a:r>
            <a:endParaRPr lang="en-US" sz="7600" dirty="0"/>
          </a:p>
        </p:txBody>
      </p:sp>
      <p:sp>
        <p:nvSpPr>
          <p:cNvPr id="8" name="Text 6"/>
          <p:cNvSpPr/>
          <p:nvPr/>
        </p:nvSpPr>
        <p:spPr>
          <a:xfrm>
            <a:off x="640080" y="3429000"/>
            <a:ext cx="7498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4EE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complete, AI-integrated platform for teaching AP World History.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40080" y="4206240"/>
            <a:ext cx="7132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9A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consistent learning path. Ten modules. Every topic. Powered by AI that coaches — never completes.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40080" y="5257800"/>
            <a:ext cx="164592" cy="164592"/>
          </a:xfrm>
          <a:prstGeom prst="ellipse">
            <a:avLst/>
          </a:prstGeom>
          <a:solidFill>
            <a:srgbClr val="C9A24B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5257800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914400" y="5138928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4EE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Created by Jeff Anderson  ·  A product of AndersonLogic AI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9AA0A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01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EE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BEHISTORICAL EXISTS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03504" y="86868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B2723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Three problems every AP classroom is facing right now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640080" cy="640080"/>
          </a:xfrm>
          <a:prstGeom prst="ellipse">
            <a:avLst/>
          </a:prstGeom>
          <a:solidFill>
            <a:srgbClr val="C9A24B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A1C1D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554480" y="201168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B2723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Rigor is uneven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554480" y="2468880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E6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 World demands document analysis, contextualization, and evidence-based argument — but delivery varies teacher to teacher, topic to topic, and day to day.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3474720"/>
            <a:ext cx="640080" cy="640080"/>
          </a:xfrm>
          <a:prstGeom prst="ellipse">
            <a:avLst/>
          </a:prstGeom>
          <a:solidFill>
            <a:srgbClr val="C9A24B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4747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A1C1D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2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1554480" y="342900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B2723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AI arrived without a plan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1554480" y="3886200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E6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 already use AI. Most classrooms have no structure for it — so it becomes an answer machine instead of a thinking partner.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40080" y="4892040"/>
            <a:ext cx="640080" cy="640080"/>
          </a:xfrm>
          <a:prstGeom prst="ellipse">
            <a:avLst/>
          </a:prstGeom>
          <a:solidFill>
            <a:srgbClr val="C9A24B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8920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A1C1D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3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1554480" y="484632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B2723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Teachers fly blind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1554480" y="5303520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E6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time a unit test reveals a gap, it's too late to reteach. There's rarely a fast, honest read on what students actually understand.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40080" y="6080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i="1" dirty="0">
                <a:solidFill>
                  <a:srgbClr val="C9A24B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BeHistorical answers all three — with one repeatable system.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50292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AndersonLogic AI</a:t>
            </a:r>
            <a:pPr algn="l" indent="0" marL="0">
              <a:buNone/>
            </a:pPr>
            <a:r>
              <a:rPr lang="en-US" sz="1000" dirty="0">
                <a:solidFill>
                  <a:srgbClr val="6E6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BeHistorical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E675C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02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C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AT A GLANCE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03504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 finished course — not a demo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1691640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full College Board AP World framework, plus a pre-1200 Foundations bridge — built, wired, and automatically validated.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51760"/>
            <a:ext cx="2606040" cy="2377440"/>
          </a:xfrm>
          <a:prstGeom prst="roundRect">
            <a:avLst>
              <a:gd name="adj" fmla="val 4615"/>
            </a:avLst>
          </a:prstGeom>
          <a:solidFill>
            <a:srgbClr val="24272A"/>
          </a:solidFill>
          <a:ln w="12700">
            <a:solidFill>
              <a:srgbClr val="2E323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2907792"/>
            <a:ext cx="2606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C9A24B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9</a:t>
            </a:r>
            <a:endParaRPr lang="en-US" sz="6000" dirty="0"/>
          </a:p>
        </p:txBody>
      </p:sp>
      <p:sp>
        <p:nvSpPr>
          <p:cNvPr id="7" name="Text 5"/>
          <p:cNvSpPr/>
          <p:nvPr/>
        </p:nvSpPr>
        <p:spPr>
          <a:xfrm>
            <a:off x="777240" y="402336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units + Foundations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77240" y="4407408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9A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complete AP World scope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538728" y="2651760"/>
            <a:ext cx="2606040" cy="2377440"/>
          </a:xfrm>
          <a:prstGeom prst="roundRect">
            <a:avLst>
              <a:gd name="adj" fmla="val 4615"/>
            </a:avLst>
          </a:prstGeom>
          <a:solidFill>
            <a:srgbClr val="24272A"/>
          </a:solidFill>
          <a:ln w="12700">
            <a:solidFill>
              <a:srgbClr val="2E323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538728" y="2907792"/>
            <a:ext cx="2606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C9A24B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77</a:t>
            </a:r>
            <a:endParaRPr lang="en-US" sz="6000" dirty="0"/>
          </a:p>
        </p:txBody>
      </p:sp>
      <p:sp>
        <p:nvSpPr>
          <p:cNvPr id="11" name="Text 9"/>
          <p:cNvSpPr/>
          <p:nvPr/>
        </p:nvSpPr>
        <p:spPr>
          <a:xfrm>
            <a:off x="3675888" y="402336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lessons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675888" y="4407408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9A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71 topics + 6 Foundations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37376" y="2651760"/>
            <a:ext cx="2606040" cy="2377440"/>
          </a:xfrm>
          <a:prstGeom prst="roundRect">
            <a:avLst>
              <a:gd name="adj" fmla="val 4615"/>
            </a:avLst>
          </a:prstGeom>
          <a:solidFill>
            <a:srgbClr val="24272A"/>
          </a:solidFill>
          <a:ln w="12700">
            <a:solidFill>
              <a:srgbClr val="2E323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37376" y="2907792"/>
            <a:ext cx="2606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C9A24B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61</a:t>
            </a:r>
            <a:endParaRPr lang="en-US" sz="6000" dirty="0"/>
          </a:p>
        </p:txBody>
      </p:sp>
      <p:sp>
        <p:nvSpPr>
          <p:cNvPr id="15" name="Text 13"/>
          <p:cNvSpPr/>
          <p:nvPr/>
        </p:nvSpPr>
        <p:spPr>
          <a:xfrm>
            <a:off x="6574536" y="402336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BeInTheRoom sims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574536" y="4407408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9A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 built to the full quality bar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9336024" y="2651760"/>
            <a:ext cx="2606040" cy="2377440"/>
          </a:xfrm>
          <a:prstGeom prst="roundRect">
            <a:avLst>
              <a:gd name="adj" fmla="val 4615"/>
            </a:avLst>
          </a:prstGeom>
          <a:solidFill>
            <a:srgbClr val="24272A"/>
          </a:solidFill>
          <a:ln w="12700">
            <a:solidFill>
              <a:srgbClr val="2E323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336024" y="2907792"/>
            <a:ext cx="2606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C9A24B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547</a:t>
            </a:r>
            <a:endParaRPr lang="en-US" sz="6000" dirty="0"/>
          </a:p>
        </p:txBody>
      </p:sp>
      <p:sp>
        <p:nvSpPr>
          <p:cNvPr id="19" name="Text 17"/>
          <p:cNvSpPr/>
          <p:nvPr/>
        </p:nvSpPr>
        <p:spPr>
          <a:xfrm>
            <a:off x="9473184" y="402336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files auto-validated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9473184" y="4407408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9A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deploy, zero errors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40080" y="54406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E4C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~770 module instances  ·  ~231 reading questions  ·  154 First &amp; 10 files  ·  1,700+ files in the repository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0292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AndersonLogic AI</a:t>
            </a:r>
            <a:pPr algn="l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BeHistorical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9AA0A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03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EE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SIGNATURE SYSTEM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03504" y="777240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2B2723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One learning path. Ten modules. Every single lesson.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640080" y="155448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6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pedagogical spine runs through all 77 lessons — Build Context → Learn &amp; Practice → Check Understanding — and it's enforced automatically, so quality never drifts.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121408" cy="1417320"/>
          </a:xfrm>
          <a:prstGeom prst="roundRect">
            <a:avLst>
              <a:gd name="adj" fmla="val 6452"/>
            </a:avLst>
          </a:prstGeom>
          <a:solidFill>
            <a:srgbClr val="FBF7EF"/>
          </a:solidFill>
          <a:ln w="12700">
            <a:solidFill>
              <a:srgbClr val="E4DBC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04672" y="2496312"/>
            <a:ext cx="502920" cy="502920"/>
          </a:xfrm>
          <a:prstGeom prst="ellipse">
            <a:avLst/>
          </a:prstGeom>
          <a:solidFill>
            <a:srgbClr val="C9A24B"/>
          </a:solidFill>
          <a:ln/>
        </p:spPr>
      </p:sp>
      <p:sp>
        <p:nvSpPr>
          <p:cNvPr id="7" name="Text 5"/>
          <p:cNvSpPr/>
          <p:nvPr/>
        </p:nvSpPr>
        <p:spPr>
          <a:xfrm>
            <a:off x="804672" y="249631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C1D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01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9808" y="3044952"/>
            <a:ext cx="19019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B27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&amp; Geography Check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926080" y="2331720"/>
            <a:ext cx="2121408" cy="1417320"/>
          </a:xfrm>
          <a:prstGeom prst="roundRect">
            <a:avLst>
              <a:gd name="adj" fmla="val 6452"/>
            </a:avLst>
          </a:prstGeom>
          <a:solidFill>
            <a:srgbClr val="FBF7EF"/>
          </a:solidFill>
          <a:ln w="12700">
            <a:solidFill>
              <a:srgbClr val="E4DBC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090672" y="2496312"/>
            <a:ext cx="502920" cy="502920"/>
          </a:xfrm>
          <a:prstGeom prst="ellipse">
            <a:avLst/>
          </a:prstGeom>
          <a:solidFill>
            <a:srgbClr val="C9A24B"/>
          </a:solidFill>
          <a:ln/>
        </p:spPr>
      </p:sp>
      <p:sp>
        <p:nvSpPr>
          <p:cNvPr id="11" name="Text 9"/>
          <p:cNvSpPr/>
          <p:nvPr/>
        </p:nvSpPr>
        <p:spPr>
          <a:xfrm>
            <a:off x="3090672" y="249631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C1D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02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035808" y="3044952"/>
            <a:ext cx="19019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B27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&amp; 10 Reading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212080" y="2331720"/>
            <a:ext cx="2121408" cy="1417320"/>
          </a:xfrm>
          <a:prstGeom prst="roundRect">
            <a:avLst>
              <a:gd name="adj" fmla="val 6452"/>
            </a:avLst>
          </a:prstGeom>
          <a:solidFill>
            <a:srgbClr val="FBF7EF"/>
          </a:solidFill>
          <a:ln w="12700">
            <a:solidFill>
              <a:srgbClr val="E4DBC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376672" y="2496312"/>
            <a:ext cx="502920" cy="502920"/>
          </a:xfrm>
          <a:prstGeom prst="ellipse">
            <a:avLst/>
          </a:prstGeom>
          <a:solidFill>
            <a:srgbClr val="C9A24B"/>
          </a:solidFill>
          <a:ln/>
        </p:spPr>
      </p:sp>
      <p:sp>
        <p:nvSpPr>
          <p:cNvPr id="15" name="Text 13"/>
          <p:cNvSpPr/>
          <p:nvPr/>
        </p:nvSpPr>
        <p:spPr>
          <a:xfrm>
            <a:off x="5376672" y="249631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C1D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03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5321808" y="3044952"/>
            <a:ext cx="19019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B27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Delivery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498080" y="2331720"/>
            <a:ext cx="2121408" cy="1417320"/>
          </a:xfrm>
          <a:prstGeom prst="roundRect">
            <a:avLst>
              <a:gd name="adj" fmla="val 6452"/>
            </a:avLst>
          </a:prstGeom>
          <a:solidFill>
            <a:srgbClr val="FBF7EF"/>
          </a:solidFill>
          <a:ln w="12700">
            <a:solidFill>
              <a:srgbClr val="E4DBC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662672" y="2496312"/>
            <a:ext cx="502920" cy="502920"/>
          </a:xfrm>
          <a:prstGeom prst="ellipse">
            <a:avLst/>
          </a:prstGeom>
          <a:solidFill>
            <a:srgbClr val="C9A24B"/>
          </a:solidFill>
          <a:ln/>
        </p:spPr>
      </p:sp>
      <p:sp>
        <p:nvSpPr>
          <p:cNvPr id="19" name="Text 17"/>
          <p:cNvSpPr/>
          <p:nvPr/>
        </p:nvSpPr>
        <p:spPr>
          <a:xfrm>
            <a:off x="7662672" y="249631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C1D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04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7607808" y="3044952"/>
            <a:ext cx="19019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B27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BeSurreal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9784080" y="2331720"/>
            <a:ext cx="2121408" cy="1417320"/>
          </a:xfrm>
          <a:prstGeom prst="roundRect">
            <a:avLst>
              <a:gd name="adj" fmla="val 6452"/>
            </a:avLst>
          </a:prstGeom>
          <a:solidFill>
            <a:srgbClr val="FBF7EF"/>
          </a:solidFill>
          <a:ln w="12700">
            <a:solidFill>
              <a:srgbClr val="E4DBC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948672" y="2496312"/>
            <a:ext cx="502920" cy="502920"/>
          </a:xfrm>
          <a:prstGeom prst="ellipse">
            <a:avLst/>
          </a:prstGeom>
          <a:solidFill>
            <a:srgbClr val="C9A24B"/>
          </a:solidFill>
          <a:ln/>
        </p:spPr>
      </p:sp>
      <p:sp>
        <p:nvSpPr>
          <p:cNvPr id="23" name="Text 21"/>
          <p:cNvSpPr/>
          <p:nvPr/>
        </p:nvSpPr>
        <p:spPr>
          <a:xfrm>
            <a:off x="9948672" y="249631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C1D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05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9893808" y="3044952"/>
            <a:ext cx="19019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B27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 Skill Builder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640080" y="4005072"/>
            <a:ext cx="2121408" cy="1417320"/>
          </a:xfrm>
          <a:prstGeom prst="roundRect">
            <a:avLst>
              <a:gd name="adj" fmla="val 6452"/>
            </a:avLst>
          </a:prstGeom>
          <a:solidFill>
            <a:srgbClr val="FBF7EF"/>
          </a:solidFill>
          <a:ln w="12700">
            <a:solidFill>
              <a:srgbClr val="E4DBC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04672" y="4169664"/>
            <a:ext cx="502920" cy="502920"/>
          </a:xfrm>
          <a:prstGeom prst="ellipse">
            <a:avLst/>
          </a:prstGeom>
          <a:solidFill>
            <a:srgbClr val="C9A24B"/>
          </a:solidFill>
          <a:ln/>
        </p:spPr>
      </p:sp>
      <p:sp>
        <p:nvSpPr>
          <p:cNvPr id="27" name="Text 25"/>
          <p:cNvSpPr/>
          <p:nvPr/>
        </p:nvSpPr>
        <p:spPr>
          <a:xfrm>
            <a:off x="804672" y="416966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C1D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06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749808" y="4718304"/>
            <a:ext cx="19019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B27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Checkpoint 1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2926080" y="4005072"/>
            <a:ext cx="2121408" cy="1417320"/>
          </a:xfrm>
          <a:prstGeom prst="roundRect">
            <a:avLst>
              <a:gd name="adj" fmla="val 6452"/>
            </a:avLst>
          </a:prstGeom>
          <a:solidFill>
            <a:srgbClr val="FBF7EF"/>
          </a:solidFill>
          <a:ln w="12700">
            <a:solidFill>
              <a:srgbClr val="E4DBC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090672" y="4169664"/>
            <a:ext cx="502920" cy="502920"/>
          </a:xfrm>
          <a:prstGeom prst="ellipse">
            <a:avLst/>
          </a:prstGeom>
          <a:solidFill>
            <a:srgbClr val="C9A24B"/>
          </a:solidFill>
          <a:ln/>
        </p:spPr>
      </p:sp>
      <p:sp>
        <p:nvSpPr>
          <p:cNvPr id="31" name="Text 29"/>
          <p:cNvSpPr/>
          <p:nvPr/>
        </p:nvSpPr>
        <p:spPr>
          <a:xfrm>
            <a:off x="3090672" y="416966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C1D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07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3035808" y="4718304"/>
            <a:ext cx="19019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B27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Lab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5212080" y="4005072"/>
            <a:ext cx="2121408" cy="1417320"/>
          </a:xfrm>
          <a:prstGeom prst="roundRect">
            <a:avLst>
              <a:gd name="adj" fmla="val 6452"/>
            </a:avLst>
          </a:prstGeom>
          <a:solidFill>
            <a:srgbClr val="FBF7EF"/>
          </a:solidFill>
          <a:ln w="12700">
            <a:solidFill>
              <a:srgbClr val="E4DBC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376672" y="4169664"/>
            <a:ext cx="502920" cy="502920"/>
          </a:xfrm>
          <a:prstGeom prst="ellipse">
            <a:avLst/>
          </a:prstGeom>
          <a:solidFill>
            <a:srgbClr val="C9A24B"/>
          </a:solidFill>
          <a:ln/>
        </p:spPr>
      </p:sp>
      <p:sp>
        <p:nvSpPr>
          <p:cNvPr id="35" name="Text 33"/>
          <p:cNvSpPr/>
          <p:nvPr/>
        </p:nvSpPr>
        <p:spPr>
          <a:xfrm>
            <a:off x="5376672" y="416966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C1D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08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5321808" y="4718304"/>
            <a:ext cx="19019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B27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Source / AI Coach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7498080" y="4005072"/>
            <a:ext cx="2121408" cy="1417320"/>
          </a:xfrm>
          <a:prstGeom prst="roundRect">
            <a:avLst>
              <a:gd name="adj" fmla="val 6452"/>
            </a:avLst>
          </a:prstGeom>
          <a:solidFill>
            <a:srgbClr val="FBF7EF"/>
          </a:solidFill>
          <a:ln w="12700">
            <a:solidFill>
              <a:srgbClr val="E4DBC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662672" y="4169664"/>
            <a:ext cx="502920" cy="502920"/>
          </a:xfrm>
          <a:prstGeom prst="ellipse">
            <a:avLst/>
          </a:prstGeom>
          <a:solidFill>
            <a:srgbClr val="C9A24B"/>
          </a:solidFill>
          <a:ln/>
        </p:spPr>
      </p:sp>
      <p:sp>
        <p:nvSpPr>
          <p:cNvPr id="39" name="Text 37"/>
          <p:cNvSpPr/>
          <p:nvPr/>
        </p:nvSpPr>
        <p:spPr>
          <a:xfrm>
            <a:off x="7662672" y="416966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C1D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09</a:t>
            </a:r>
            <a:endParaRPr lang="en-US" sz="1500" dirty="0"/>
          </a:p>
        </p:txBody>
      </p:sp>
      <p:sp>
        <p:nvSpPr>
          <p:cNvPr id="40" name="Text 38"/>
          <p:cNvSpPr/>
          <p:nvPr/>
        </p:nvSpPr>
        <p:spPr>
          <a:xfrm>
            <a:off x="7607808" y="4718304"/>
            <a:ext cx="19019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B27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BeInTheRoom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9784080" y="4005072"/>
            <a:ext cx="2121408" cy="1417320"/>
          </a:xfrm>
          <a:prstGeom prst="roundRect">
            <a:avLst>
              <a:gd name="adj" fmla="val 6452"/>
            </a:avLst>
          </a:prstGeom>
          <a:solidFill>
            <a:srgbClr val="FBF7EF"/>
          </a:solidFill>
          <a:ln w="12700">
            <a:solidFill>
              <a:srgbClr val="E4DBC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9948672" y="4169664"/>
            <a:ext cx="502920" cy="502920"/>
          </a:xfrm>
          <a:prstGeom prst="ellipse">
            <a:avLst/>
          </a:prstGeom>
          <a:solidFill>
            <a:srgbClr val="C9A24B"/>
          </a:solidFill>
          <a:ln/>
        </p:spPr>
      </p:sp>
      <p:sp>
        <p:nvSpPr>
          <p:cNvPr id="43" name="Text 41"/>
          <p:cNvSpPr/>
          <p:nvPr/>
        </p:nvSpPr>
        <p:spPr>
          <a:xfrm>
            <a:off x="9948672" y="416966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C1D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10</a:t>
            </a:r>
            <a:endParaRPr lang="en-US" sz="1500" dirty="0"/>
          </a:p>
        </p:txBody>
      </p:sp>
      <p:sp>
        <p:nvSpPr>
          <p:cNvPr id="44" name="Text 42"/>
          <p:cNvSpPr/>
          <p:nvPr/>
        </p:nvSpPr>
        <p:spPr>
          <a:xfrm>
            <a:off x="9893808" y="4718304"/>
            <a:ext cx="19019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B27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Checkpoint 2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40080" y="61264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Modules 04, 07, 08 &amp; 09 carry the features that make BeHistorical distinctive — next.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50292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AndersonLogic AI</a:t>
            </a:r>
            <a:pPr algn="l" indent="0" marL="0">
              <a:buNone/>
            </a:pPr>
            <a:r>
              <a:rPr lang="en-US" sz="1000" dirty="0">
                <a:solidFill>
                  <a:srgbClr val="6E6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BeHistorical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E675C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04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EE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MAKES IT DIFFERENT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03504" y="82296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B2723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Named modules students remember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3611880" cy="1965960"/>
          </a:xfrm>
          <a:prstGeom prst="roundRect">
            <a:avLst>
              <a:gd name="adj" fmla="val 4651"/>
            </a:avLst>
          </a:prstGeom>
          <a:solidFill>
            <a:srgbClr val="FBF7EF"/>
          </a:solidFill>
          <a:ln w="12700">
            <a:solidFill>
              <a:srgbClr val="E4DBC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96112" y="2075688"/>
            <a:ext cx="30998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9A7A28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First &amp; 10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896112" y="2587752"/>
            <a:ext cx="309981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E6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designed, textbook-quality narrative reading with vocab chips, AP-skill callouts, and three open-response questions — every topic.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507992" y="1874520"/>
            <a:ext cx="3611880" cy="1965960"/>
          </a:xfrm>
          <a:prstGeom prst="roundRect">
            <a:avLst>
              <a:gd name="adj" fmla="val 4651"/>
            </a:avLst>
          </a:prstGeom>
          <a:solidFill>
            <a:srgbClr val="FBF7EF"/>
          </a:solidFill>
          <a:ln w="12700">
            <a:solidFill>
              <a:srgbClr val="E4DBC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64024" y="2075688"/>
            <a:ext cx="30998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9A7A28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BeSurreal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4764024" y="2587752"/>
            <a:ext cx="309981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E6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surprising, human detail that makes history concrete — printed restaurant menus in Song China — with a 'what does this reveal?' prompt.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375904" y="1874520"/>
            <a:ext cx="3611880" cy="1965960"/>
          </a:xfrm>
          <a:prstGeom prst="roundRect">
            <a:avLst>
              <a:gd name="adj" fmla="val 4651"/>
            </a:avLst>
          </a:prstGeom>
          <a:solidFill>
            <a:srgbClr val="FBF7EF"/>
          </a:solidFill>
          <a:ln w="12700">
            <a:solidFill>
              <a:srgbClr val="E4DBC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31936" y="2075688"/>
            <a:ext cx="30998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9A7A28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Evidence Lab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8631936" y="2587752"/>
            <a:ext cx="309981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E6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 select real historical evidence and connect it to a larger political, cultural, or economic claim.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40080" y="4133088"/>
            <a:ext cx="3611880" cy="1965960"/>
          </a:xfrm>
          <a:prstGeom prst="roundRect">
            <a:avLst>
              <a:gd name="adj" fmla="val 4651"/>
            </a:avLst>
          </a:prstGeom>
          <a:solidFill>
            <a:srgbClr val="FBF7EF"/>
          </a:solidFill>
          <a:ln w="12700">
            <a:solidFill>
              <a:srgbClr val="E4DBC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96112" y="4334256"/>
            <a:ext cx="30998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9A7A28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Primary Source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896112" y="4846320"/>
            <a:ext cx="309981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E6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authentic excerpt with full attribution and a HIPP prompt — Historical situation, Intended audience, Purpose, Point of view.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507992" y="4133088"/>
            <a:ext cx="3611880" cy="1965960"/>
          </a:xfrm>
          <a:prstGeom prst="roundRect">
            <a:avLst>
              <a:gd name="adj" fmla="val 4651"/>
            </a:avLst>
          </a:prstGeom>
          <a:solidFill>
            <a:srgbClr val="FBF7EF"/>
          </a:solidFill>
          <a:ln w="12700">
            <a:solidFill>
              <a:srgbClr val="E4DBC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64024" y="4334256"/>
            <a:ext cx="30998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9A7A28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AP Skill Builder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4764024" y="4846320"/>
            <a:ext cx="309981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E6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Focused practice on one AP reasoning skill per topic — contextualization, causation, comparison — with a scaffolded writing prompt.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8375904" y="4133088"/>
            <a:ext cx="3611880" cy="1965960"/>
          </a:xfrm>
          <a:prstGeom prst="roundRect">
            <a:avLst>
              <a:gd name="adj" fmla="val 4651"/>
            </a:avLst>
          </a:prstGeom>
          <a:solidFill>
            <a:srgbClr val="FBF7EF"/>
          </a:solidFill>
          <a:ln w="12700">
            <a:solidFill>
              <a:srgbClr val="E4DBC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631936" y="4334256"/>
            <a:ext cx="30998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9A7A28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BeReady</a:t>
            </a:r>
            <a:endParaRPr lang="en-US" sz="1900" dirty="0"/>
          </a:p>
        </p:txBody>
      </p:sp>
      <p:sp>
        <p:nvSpPr>
          <p:cNvPr id="21" name="Text 19"/>
          <p:cNvSpPr/>
          <p:nvPr/>
        </p:nvSpPr>
        <p:spPr>
          <a:xfrm>
            <a:off x="8631936" y="4846320"/>
            <a:ext cx="309981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E6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ten-second 'takeaway' that ties institutions, beliefs, and economy into one big-picture synthesis to close each reading.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50292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AndersonLogic AI</a:t>
            </a:r>
            <a:pPr algn="l" indent="0" marL="0">
              <a:buNone/>
            </a:pPr>
            <a:r>
              <a:rPr lang="en-US" sz="1000" dirty="0">
                <a:solidFill>
                  <a:srgbClr val="6E6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BeHistorical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E675C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05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C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FLAGSHIP MODULE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03504" y="82296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BeInTheRoom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40080" y="16002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E4C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Historically grounded decision simulations — not costume roleplay.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286000"/>
            <a:ext cx="457200" cy="457200"/>
          </a:xfrm>
          <a:prstGeom prst="ellipse">
            <a:avLst/>
          </a:prstGeom>
          <a:solidFill>
            <a:srgbClr val="C9A24B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A1C1D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34440" y="2304288"/>
            <a:ext cx="630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   </a:t>
            </a:r>
            <a:pPr algn="l" indent="0" marL="0">
              <a:buNone/>
            </a:pPr>
            <a:r>
              <a:rPr lang="en-US" sz="1400" dirty="0">
                <a:solidFill>
                  <a:srgbClr val="9A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student steps into a real historical decision point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40080" y="2944368"/>
            <a:ext cx="457200" cy="457200"/>
          </a:xfrm>
          <a:prstGeom prst="ellipse">
            <a:avLst/>
          </a:prstGeom>
          <a:solidFill>
            <a:srgbClr val="C9A24B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29443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A1C1D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34440" y="2962656"/>
            <a:ext cx="630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   </a:t>
            </a:r>
            <a:pPr algn="l" indent="0" marL="0">
              <a:buNone/>
            </a:pPr>
            <a:r>
              <a:rPr lang="en-US" sz="1400" dirty="0">
                <a:solidFill>
                  <a:srgbClr val="9A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role with genuine goals, fears, and constraints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40080" y="3602736"/>
            <a:ext cx="457200" cy="457200"/>
          </a:xfrm>
          <a:prstGeom prst="ellipse">
            <a:avLst/>
          </a:prstGeom>
          <a:solidFill>
            <a:srgbClr val="C9A24B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36027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A1C1D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3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234440" y="3621024"/>
            <a:ext cx="630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   </a:t>
            </a:r>
            <a:pPr algn="l" indent="0" marL="0">
              <a:buNone/>
            </a:pPr>
            <a:r>
              <a:rPr lang="en-US" sz="1400" dirty="0">
                <a:solidFill>
                  <a:srgbClr val="9A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a defensible recommendation under pressure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640080" y="4261104"/>
            <a:ext cx="457200" cy="457200"/>
          </a:xfrm>
          <a:prstGeom prst="ellipse">
            <a:avLst/>
          </a:prstGeom>
          <a:solidFill>
            <a:srgbClr val="C9A24B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42611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A1C1D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4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234440" y="4279392"/>
            <a:ext cx="630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Defend   </a:t>
            </a:r>
            <a:pPr algn="l" indent="0" marL="0">
              <a:buNone/>
            </a:pPr>
            <a:r>
              <a:rPr lang="en-US" sz="1400" dirty="0">
                <a:solidFill>
                  <a:srgbClr val="9A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marshal evidence; AI coaching probes the reasoning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40080" y="4919472"/>
            <a:ext cx="457200" cy="457200"/>
          </a:xfrm>
          <a:prstGeom prst="ellipse">
            <a:avLst/>
          </a:prstGeom>
          <a:solidFill>
            <a:srgbClr val="C9A24B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4919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A1C1D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5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234440" y="4937760"/>
            <a:ext cx="630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Reflect   </a:t>
            </a:r>
            <a:pPr algn="l" indent="0" marL="0">
              <a:buNone/>
            </a:pPr>
            <a:r>
              <a:rPr lang="en-US" sz="1400" dirty="0">
                <a:solidFill>
                  <a:srgbClr val="9A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out of character and write an AP-style analysis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8229600" y="2194560"/>
            <a:ext cx="3337560" cy="3749040"/>
          </a:xfrm>
          <a:prstGeom prst="roundRect">
            <a:avLst>
              <a:gd name="adj" fmla="val 3288"/>
            </a:avLst>
          </a:prstGeom>
          <a:solidFill>
            <a:srgbClr val="24272A"/>
          </a:solidFill>
          <a:ln w="12700">
            <a:solidFill>
              <a:srgbClr val="2E323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03920" y="2450592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QUALITY BAR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8522208" y="2880360"/>
            <a:ext cx="2770632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F4EE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4+ historical roles per scenario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F4EE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8–12 curated evidence chips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F4EE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trade-off decisions, no perfect answer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F4EE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2+ real historical sources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F4EE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out-of-character AP reflection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8522208" y="534924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 </a:t>
            </a:r>
            <a:pPr algn="l" indent="0" marL="0">
              <a:buNone/>
            </a:pPr>
            <a:r>
              <a:rPr lang="en-US" sz="1300" dirty="0">
                <a:solidFill>
                  <a:srgbClr val="9A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&amp; linked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50292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AndersonLogic AI</a:t>
            </a:r>
            <a:pPr algn="l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BeHistorical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9AA0A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06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EE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AI, WITH GUARDRAILS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03504" y="82296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2B2723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AI that coaches — never completes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40080" y="164592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E6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reading and simulation builds a ready-to-paste coaching prompt and hands it to the class MagicSchool bot. The AI asks one question at a time — and is explicitly forbidden from writing the answer.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514600"/>
            <a:ext cx="5532120" cy="3383280"/>
          </a:xfrm>
          <a:prstGeom prst="roundRect">
            <a:avLst>
              <a:gd name="adj" fmla="val 3243"/>
            </a:avLst>
          </a:prstGeom>
          <a:solidFill>
            <a:srgbClr val="FBF7EF"/>
          </a:solidFill>
          <a:ln w="12700">
            <a:solidFill>
              <a:srgbClr val="E4DBC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74320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9A7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6-STAGE SOCRATIC DIALOGUE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14400" y="3200400"/>
            <a:ext cx="310896" cy="310896"/>
          </a:xfrm>
          <a:prstGeom prst="ellipse">
            <a:avLst/>
          </a:prstGeom>
          <a:solidFill>
            <a:srgbClr val="C9A24B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32004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C1D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371600" y="317296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B27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understanding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914400" y="3630168"/>
            <a:ext cx="310896" cy="310896"/>
          </a:xfrm>
          <a:prstGeom prst="ellipse">
            <a:avLst/>
          </a:prstGeom>
          <a:solidFill>
            <a:srgbClr val="C9A24B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36301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C1D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371600" y="360273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B27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check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914400" y="4059936"/>
            <a:ext cx="310896" cy="310896"/>
          </a:xfrm>
          <a:prstGeom prst="ellipse">
            <a:avLst/>
          </a:prstGeom>
          <a:solidFill>
            <a:srgbClr val="C9A24B"/>
          </a:solidFill>
          <a:ln/>
        </p:spPr>
      </p:sp>
      <p:sp>
        <p:nvSpPr>
          <p:cNvPr id="14" name="Text 12"/>
          <p:cNvSpPr/>
          <p:nvPr/>
        </p:nvSpPr>
        <p:spPr>
          <a:xfrm>
            <a:off x="914400" y="40599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C1D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371600" y="4032504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B27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Trade-off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914400" y="4489704"/>
            <a:ext cx="310896" cy="310896"/>
          </a:xfrm>
          <a:prstGeom prst="ellipse">
            <a:avLst/>
          </a:prstGeom>
          <a:solidFill>
            <a:srgbClr val="C9A24B"/>
          </a:solidFill>
          <a:ln/>
        </p:spPr>
      </p:sp>
      <p:sp>
        <p:nvSpPr>
          <p:cNvPr id="17" name="Text 15"/>
          <p:cNvSpPr/>
          <p:nvPr/>
        </p:nvSpPr>
        <p:spPr>
          <a:xfrm>
            <a:off x="914400" y="44897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C1D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371600" y="446227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B27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Opposing perspective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914400" y="4919472"/>
            <a:ext cx="310896" cy="310896"/>
          </a:xfrm>
          <a:prstGeom prst="ellipse">
            <a:avLst/>
          </a:prstGeom>
          <a:solidFill>
            <a:srgbClr val="C9A24B"/>
          </a:solidFill>
          <a:ln/>
        </p:spPr>
      </p:sp>
      <p:sp>
        <p:nvSpPr>
          <p:cNvPr id="20" name="Text 18"/>
          <p:cNvSpPr/>
          <p:nvPr/>
        </p:nvSpPr>
        <p:spPr>
          <a:xfrm>
            <a:off x="914400" y="49194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C1D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371600" y="48920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B27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Historical thinking</a:t>
            </a:r>
            <a:endParaRPr lang="en-US" sz="1450" dirty="0"/>
          </a:p>
        </p:txBody>
      </p:sp>
      <p:sp>
        <p:nvSpPr>
          <p:cNvPr id="22" name="Shape 20"/>
          <p:cNvSpPr/>
          <p:nvPr/>
        </p:nvSpPr>
        <p:spPr>
          <a:xfrm>
            <a:off x="914400" y="5349240"/>
            <a:ext cx="310896" cy="310896"/>
          </a:xfrm>
          <a:prstGeom prst="ellipse">
            <a:avLst/>
          </a:prstGeom>
          <a:solidFill>
            <a:srgbClr val="C9A24B"/>
          </a:solidFill>
          <a:ln/>
        </p:spPr>
      </p:sp>
      <p:sp>
        <p:nvSpPr>
          <p:cNvPr id="23" name="Text 21"/>
          <p:cNvSpPr/>
          <p:nvPr/>
        </p:nvSpPr>
        <p:spPr>
          <a:xfrm>
            <a:off x="914400" y="5349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C1D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6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371600" y="532180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B27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Revision</a:t>
            </a:r>
            <a:endParaRPr lang="en-US" sz="1450" dirty="0"/>
          </a:p>
        </p:txBody>
      </p:sp>
      <p:sp>
        <p:nvSpPr>
          <p:cNvPr id="25" name="Shape 23"/>
          <p:cNvSpPr/>
          <p:nvPr/>
        </p:nvSpPr>
        <p:spPr>
          <a:xfrm>
            <a:off x="6400800" y="2514600"/>
            <a:ext cx="5120640" cy="3383280"/>
          </a:xfrm>
          <a:prstGeom prst="roundRect">
            <a:avLst>
              <a:gd name="adj" fmla="val 3243"/>
            </a:avLst>
          </a:prstGeom>
          <a:solidFill>
            <a:srgbClr val="1A1C1D"/>
          </a:solidFill>
          <a:ln w="12700">
            <a:solidFill>
              <a:srgbClr val="1A1C1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675120" y="27432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WORK FLOWS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675120" y="315468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</a:t>
            </a:r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in BeHistorical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6967728" y="3465576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 draft and reason inside the platform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675120" y="3904488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</a:t>
            </a:r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Coach in MagicSchool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6967728" y="4215384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built prompt drives one-question-at-a-time dialogue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6675120" y="4654296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</a:t>
            </a:r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to Google Forms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6967728" y="4965192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responses auto-fill a prefilled form — unit, topic, skills tagged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675120" y="5404104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</a:t>
            </a:r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 in Canvas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6967728" y="5715000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assessed work lands where teachers already grade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50292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AndersonLogic AI</a:t>
            </a:r>
            <a:pPr algn="l" indent="0" marL="0">
              <a:buNone/>
            </a:pPr>
            <a:r>
              <a:rPr lang="en-US" sz="1000" dirty="0">
                <a:solidFill>
                  <a:srgbClr val="6E6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BeHistorical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E675C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07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EE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THE TEACHER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03504" y="82296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B2723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 live read on what students understand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64592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E6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responses flow into an analytics layer that turns raw answers into teaching decisions — before the unit test, not after.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286000"/>
            <a:ext cx="5349240" cy="1691640"/>
          </a:xfrm>
          <a:prstGeom prst="roundRect">
            <a:avLst>
              <a:gd name="adj" fmla="val 5405"/>
            </a:avLst>
          </a:prstGeom>
          <a:solidFill>
            <a:srgbClr val="FBF7EF"/>
          </a:solidFill>
          <a:ln w="12700">
            <a:solidFill>
              <a:srgbClr val="E4DBC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2578608"/>
            <a:ext cx="457200" cy="457200"/>
          </a:xfrm>
          <a:prstGeom prst="ellipse">
            <a:avLst/>
          </a:prstGeom>
          <a:solidFill>
            <a:srgbClr val="C9A24B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5786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914400" y="25786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A1C1D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554480" y="2542032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B2723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Command Center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554480" y="2999232"/>
            <a:ext cx="4206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E6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build dashboard that reads the live repository — every deliverable, unit by unit, tracked in real time.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263640" y="2286000"/>
            <a:ext cx="5349240" cy="1691640"/>
          </a:xfrm>
          <a:prstGeom prst="roundRect">
            <a:avLst>
              <a:gd name="adj" fmla="val 5405"/>
            </a:avLst>
          </a:prstGeom>
          <a:solidFill>
            <a:srgbClr val="FBF7EF"/>
          </a:solidFill>
          <a:ln w="12700">
            <a:solidFill>
              <a:srgbClr val="E4DBC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37960" y="2578608"/>
            <a:ext cx="457200" cy="457200"/>
          </a:xfrm>
          <a:prstGeom prst="ellipse">
            <a:avLst/>
          </a:prstGeom>
          <a:solidFill>
            <a:srgbClr val="C9A24B"/>
          </a:solidFill>
          <a:ln/>
        </p:spPr>
      </p:sp>
      <p:sp>
        <p:nvSpPr>
          <p:cNvPr id="13" name="Text 11"/>
          <p:cNvSpPr/>
          <p:nvPr/>
        </p:nvSpPr>
        <p:spPr>
          <a:xfrm>
            <a:off x="6537960" y="25786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537960" y="25786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A1C1D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2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7178040" y="2542032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B2723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Response analytics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7178040" y="2999232"/>
            <a:ext cx="4206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E6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Counts responses, averages confidence, and flags blank, short, or low-confidence answers automatically.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40080" y="4251960"/>
            <a:ext cx="5349240" cy="1691640"/>
          </a:xfrm>
          <a:prstGeom prst="roundRect">
            <a:avLst>
              <a:gd name="adj" fmla="val 5405"/>
            </a:avLst>
          </a:prstGeom>
          <a:solidFill>
            <a:srgbClr val="FBF7EF"/>
          </a:solidFill>
          <a:ln w="12700">
            <a:solidFill>
              <a:srgbClr val="E4DBC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4400" y="4544568"/>
            <a:ext cx="457200" cy="457200"/>
          </a:xfrm>
          <a:prstGeom prst="ellipse">
            <a:avLst/>
          </a:prstGeom>
          <a:solidFill>
            <a:srgbClr val="C9A24B"/>
          </a:solidFill>
          <a:ln/>
        </p:spPr>
      </p:sp>
      <p:sp>
        <p:nvSpPr>
          <p:cNvPr id="19" name="Text 17"/>
          <p:cNvSpPr/>
          <p:nvPr/>
        </p:nvSpPr>
        <p:spPr>
          <a:xfrm>
            <a:off x="914400" y="45445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914400" y="45445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A1C1D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3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554480" y="4507992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B2723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Misconception detection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554480" y="4965192"/>
            <a:ext cx="4206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E6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Surfaces recurring error patterns and gaps in AP writing — missing reasoning, weak evidence use.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263640" y="4251960"/>
            <a:ext cx="5349240" cy="1691640"/>
          </a:xfrm>
          <a:prstGeom prst="roundRect">
            <a:avLst>
              <a:gd name="adj" fmla="val 5405"/>
            </a:avLst>
          </a:prstGeom>
          <a:solidFill>
            <a:srgbClr val="FBF7EF"/>
          </a:solidFill>
          <a:ln w="12700">
            <a:solidFill>
              <a:srgbClr val="E4DBC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537960" y="4544568"/>
            <a:ext cx="457200" cy="457200"/>
          </a:xfrm>
          <a:prstGeom prst="ellipse">
            <a:avLst/>
          </a:prstGeom>
          <a:solidFill>
            <a:srgbClr val="C9A24B"/>
          </a:solidFill>
          <a:ln/>
        </p:spPr>
      </p:sp>
      <p:sp>
        <p:nvSpPr>
          <p:cNvPr id="25" name="Text 23"/>
          <p:cNvSpPr/>
          <p:nvPr/>
        </p:nvSpPr>
        <p:spPr>
          <a:xfrm>
            <a:off x="6537960" y="45445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537960" y="45445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A1C1D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4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7178040" y="4507992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B2723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Reteach suggestions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7178040" y="4965192"/>
            <a:ext cx="4206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E6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Turns those patterns into concrete, targeted reteach recommendations, filterable by class period.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50292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AndersonLogic AI</a:t>
            </a:r>
            <a:pPr algn="l" indent="0" marL="0">
              <a:buNone/>
            </a:pPr>
            <a:r>
              <a:rPr lang="en-US" sz="1000" dirty="0">
                <a:solidFill>
                  <a:srgbClr val="6E6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BeHistorical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E675C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08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1C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SCALES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03504" y="82296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Built like software, not a slide folder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40080" y="164592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reason quality holds across 77 lessons — and the reason this method transfers to any course — is engineering discipline underneath.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377440"/>
            <a:ext cx="3566160" cy="2606040"/>
          </a:xfrm>
          <a:prstGeom prst="roundRect">
            <a:avLst>
              <a:gd name="adj" fmla="val 4211"/>
            </a:avLst>
          </a:prstGeom>
          <a:solidFill>
            <a:srgbClr val="24272A"/>
          </a:solidFill>
          <a:ln w="12700">
            <a:solidFill>
              <a:srgbClr val="2E323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2670048"/>
            <a:ext cx="502920" cy="502920"/>
          </a:xfrm>
          <a:prstGeom prst="ellipse">
            <a:avLst/>
          </a:prstGeom>
          <a:solidFill>
            <a:srgbClr val="C9A24B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6700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14400" y="26700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A1C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932688" y="333756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4C878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Automated validation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932688" y="3931920"/>
            <a:ext cx="3017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4EE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547-file audit runs on every change — module order, form wiring, and simulation quality gates. Zero-error deploys.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480560" y="2377440"/>
            <a:ext cx="3566160" cy="2606040"/>
          </a:xfrm>
          <a:prstGeom prst="roundRect">
            <a:avLst>
              <a:gd name="adj" fmla="val 4211"/>
            </a:avLst>
          </a:prstGeom>
          <a:solidFill>
            <a:srgbClr val="24272A"/>
          </a:solidFill>
          <a:ln w="12700">
            <a:solidFill>
              <a:srgbClr val="2E323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754880" y="2670048"/>
            <a:ext cx="502920" cy="502920"/>
          </a:xfrm>
          <a:prstGeom prst="ellipse">
            <a:avLst/>
          </a:prstGeom>
          <a:solidFill>
            <a:srgbClr val="C9A24B"/>
          </a:solidFill>
          <a:ln/>
        </p:spPr>
      </p:sp>
      <p:sp>
        <p:nvSpPr>
          <p:cNvPr id="13" name="Text 11"/>
          <p:cNvSpPr/>
          <p:nvPr/>
        </p:nvSpPr>
        <p:spPr>
          <a:xfrm>
            <a:off x="4754880" y="26700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754880" y="26700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A1C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4773168" y="333756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4C878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Deterministic builders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4773168" y="3931920"/>
            <a:ext cx="3017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4EE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Whole units are generated from data by scripts — so a fix or upgrade rolls out everywhere, consistently, at once.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8321040" y="2377440"/>
            <a:ext cx="3566160" cy="2606040"/>
          </a:xfrm>
          <a:prstGeom prst="roundRect">
            <a:avLst>
              <a:gd name="adj" fmla="val 4211"/>
            </a:avLst>
          </a:prstGeom>
          <a:solidFill>
            <a:srgbClr val="24272A"/>
          </a:solidFill>
          <a:ln w="12700">
            <a:solidFill>
              <a:srgbClr val="2E323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595360" y="2670048"/>
            <a:ext cx="502920" cy="502920"/>
          </a:xfrm>
          <a:prstGeom prst="ellipse">
            <a:avLst/>
          </a:prstGeom>
          <a:solidFill>
            <a:srgbClr val="C9A24B"/>
          </a:solidFill>
          <a:ln/>
        </p:spPr>
      </p:sp>
      <p:sp>
        <p:nvSpPr>
          <p:cNvPr id="19" name="Text 17"/>
          <p:cNvSpPr/>
          <p:nvPr/>
        </p:nvSpPr>
        <p:spPr>
          <a:xfrm>
            <a:off x="8595360" y="26700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8595360" y="26700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A1C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8613648" y="333756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4C878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Codified quality gates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8613648" y="3931920"/>
            <a:ext cx="3017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4EE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rules live in written blueprints and are enforced by machine — a scenario can't ship until it passes the theme-alignment gate.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40080" y="53492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i="1" dirty="0">
                <a:solidFill>
                  <a:srgbClr val="C9A24B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This is the difference between a great teacher's materials and a product a district can adopt.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50292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AndersonLogic AI</a:t>
            </a:r>
            <a:pPr algn="l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BeHistorical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9AA0A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09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1C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38160" y="1005840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i="1" dirty="0">
                <a:solidFill>
                  <a:srgbClr val="2E323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BeReady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8138160" y="2194560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i="1" dirty="0">
                <a:solidFill>
                  <a:srgbClr val="2E323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BeSurreal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138160" y="3383280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i="1" dirty="0">
                <a:solidFill>
                  <a:srgbClr val="2E323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BeInTheRoom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138160" y="4572000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i="1" dirty="0">
                <a:solidFill>
                  <a:srgbClr val="2E323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BeHistorical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6858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THIS GOES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66928" y="1143000"/>
            <a:ext cx="7772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 method — not just a course</a:t>
            </a:r>
            <a:endParaRPr lang="en-US" sz="4400" dirty="0"/>
          </a:p>
        </p:txBody>
      </p:sp>
      <p:sp>
        <p:nvSpPr>
          <p:cNvPr id="8" name="Shape 6"/>
          <p:cNvSpPr/>
          <p:nvPr/>
        </p:nvSpPr>
        <p:spPr>
          <a:xfrm>
            <a:off x="640080" y="2834640"/>
            <a:ext cx="146304" cy="146304"/>
          </a:xfrm>
          <a:prstGeom prst="ellipse">
            <a:avLst/>
          </a:prstGeom>
          <a:solidFill>
            <a:srgbClr val="C9A24B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2834640"/>
            <a:ext cx="1463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960120" y="2715768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4C878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 repeatable framework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960120" y="3118104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10-module path, the AI guardrails, and the build system are subject-agnostic — ready to lift into any AP or core course.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3931920"/>
            <a:ext cx="146304" cy="146304"/>
          </a:xfrm>
          <a:prstGeom prst="ellipse">
            <a:avLst/>
          </a:prstGeom>
          <a:solidFill>
            <a:srgbClr val="C9A24B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931920"/>
            <a:ext cx="1463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960120" y="3813048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4C878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Professional development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960120" y="4215384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 itself is the curriculum: a concrete model for teaching with AI responsibly, backed by working proof.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40080" y="5029200"/>
            <a:ext cx="146304" cy="146304"/>
          </a:xfrm>
          <a:prstGeom prst="ellipse">
            <a:avLst/>
          </a:prstGeom>
          <a:solidFill>
            <a:srgbClr val="C9A24B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5029200"/>
            <a:ext cx="1463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960120" y="4910328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4C878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 platform to grow on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960120" y="5312664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BeHistorical is the first product under AndersonLogic AI — a foundation for a family of AI-integrated learning tools.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40080" y="62179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AndersonLogic AI</a:t>
            </a:r>
            <a:pPr algn="l" indent="0" marL="0">
              <a:buNone/>
            </a:pPr>
            <a:r>
              <a:rPr lang="en-US" sz="1400" dirty="0">
                <a:solidFill>
                  <a:srgbClr val="F4EE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BeHistorical   ·   Created by Jeff Anderson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9AA0A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10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2026-07-20T04:21:11Z</dcterms:created>
  <dcterms:modified xsi:type="dcterms:W3CDTF">2026-07-20T04:21:11Z</dcterms:modified>
</cp:coreProperties>
</file>